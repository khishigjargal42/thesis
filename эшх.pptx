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185" autoAdjust="0"/>
  </p:normalViewPr>
  <p:slideViewPr>
    <p:cSldViewPr snapToGrid="0" snapToObjects="1">
      <p:cViewPr>
        <p:scale>
          <a:sx n="94" d="100"/>
          <a:sy n="94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02389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mn-MN" dirty="0"/>
              <a:t>Зүрхний өвчин нь дэлхий нийтийн тэргүүлэх нас баралтын шалтгааны нэг бөгөөд </a:t>
            </a:r>
            <a:r>
              <a:rPr lang="mn-MN" b="1" dirty="0"/>
              <a:t>эрт илрүүлэлт</a:t>
            </a:r>
            <a:r>
              <a:rPr lang="mn-MN" dirty="0"/>
              <a:t> нь эмчилгээний үр дүнд шийдвэрлэх нөлөөтэй.</a:t>
            </a:r>
          </a:p>
          <a:p>
            <a:r>
              <a:rPr lang="mn-MN" dirty="0"/>
              <a:t>Уламжлалт аргаар эмч сонсгол ашиглан дүгнэлт гаргадаг — энэ нь субьектив бөгөөд мэргэшлийн ялгаанаас хамаардаг. </a:t>
            </a:r>
            <a:r>
              <a:rPr lang="mn-MN" b="1" dirty="0"/>
              <a:t>Автомат илрүүлэх систем</a:t>
            </a:r>
            <a:r>
              <a:rPr lang="mn-MN" dirty="0"/>
              <a:t> эдгээр хязгаарлалтыг давж гарах боломжтой.</a:t>
            </a:r>
          </a:p>
          <a:p>
            <a:r>
              <a:rPr lang="mn-MN" dirty="0"/>
              <a:t>Энэхүү судалгааны </a:t>
            </a:r>
            <a:r>
              <a:rPr lang="mn-MN" b="1" dirty="0"/>
              <a:t>гурван үндсэн зорилго</a:t>
            </a:r>
            <a:r>
              <a:rPr lang="mn-MN" dirty="0"/>
              <a:t> байна:</a:t>
            </a:r>
          </a:p>
          <a:p>
            <a:r>
              <a:rPr lang="mn-MN" dirty="0"/>
              <a:t>Нэгдүгээрт, дөрвөн оролтын дүрслэлийг нэг нөхцөлд харьцуулах</a:t>
            </a:r>
          </a:p>
          <a:p>
            <a:r>
              <a:rPr lang="mn-MN" dirty="0"/>
              <a:t>Хоёрдугаарт, дөрвөн </a:t>
            </a:r>
            <a:r>
              <a:rPr lang="en-US" dirty="0"/>
              <a:t>CNN </a:t>
            </a:r>
            <a:r>
              <a:rPr lang="mn-MN" dirty="0"/>
              <a:t>архитектурыг туршиж шалгах</a:t>
            </a:r>
          </a:p>
          <a:p>
            <a:r>
              <a:rPr lang="mn-MN" dirty="0"/>
              <a:t>Гуравдугаарт, хамгийн тохиромжтой хослолыг тодорхойлох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mn-MN" dirty="0"/>
              <a:t>Судалгаанд </a:t>
            </a:r>
            <a:r>
              <a:rPr lang="en-US" b="1" dirty="0"/>
              <a:t>PhysioNet/</a:t>
            </a:r>
            <a:r>
              <a:rPr lang="en-US" b="1" dirty="0" err="1"/>
              <a:t>CinC</a:t>
            </a:r>
            <a:r>
              <a:rPr lang="en-US" b="1" dirty="0"/>
              <a:t> 2016</a:t>
            </a:r>
            <a:r>
              <a:rPr lang="en-US" dirty="0"/>
              <a:t> </a:t>
            </a:r>
            <a:r>
              <a:rPr lang="mn-MN" dirty="0"/>
              <a:t>зүрхний авианы нээлттэй өгөгдлийн санг ашигласан. Энэ нь салбартаа өргөн хэрэглэгддэг стандарт өгөгдлийн сан юм.</a:t>
            </a:r>
          </a:p>
          <a:p>
            <a:r>
              <a:rPr lang="mn-MN" dirty="0"/>
              <a:t>Нийт </a:t>
            </a:r>
            <a:r>
              <a:rPr lang="mn-MN" b="1" dirty="0"/>
              <a:t>3,240 бичлэг</a:t>
            </a:r>
            <a:r>
              <a:rPr lang="mn-MN" dirty="0"/>
              <a:t>, бүгд 2,000 </a:t>
            </a:r>
            <a:r>
              <a:rPr lang="en-US" dirty="0"/>
              <a:t>Hz </a:t>
            </a:r>
            <a:r>
              <a:rPr lang="mn-MN" dirty="0"/>
              <a:t>давтамжтай. Бичлэгийн урт 5 секундаас 122 секунд хүртэл хэлбэлздэг.</a:t>
            </a:r>
          </a:p>
          <a:p>
            <a:r>
              <a:rPr lang="mn-MN" dirty="0"/>
              <a:t>Нэг чухал онцлог нь — ангиллын тархалт </a:t>
            </a:r>
            <a:r>
              <a:rPr lang="mn-MN" b="1" dirty="0"/>
              <a:t>тэнцвэргүй</a:t>
            </a:r>
            <a:r>
              <a:rPr lang="mn-MN" dirty="0"/>
              <a:t>: хэвийн бичлэг 20.5%, хэвийн бус 79.5%. Энэ нь загвар сургалтад нэмэлт анхаарал шаардсан тул </a:t>
            </a:r>
            <a:r>
              <a:rPr lang="en-US" b="1" dirty="0"/>
              <a:t>class weight </a:t>
            </a:r>
            <a:r>
              <a:rPr lang="mn-MN" b="1" dirty="0"/>
              <a:t>тохируулга</a:t>
            </a:r>
            <a:r>
              <a:rPr lang="mn-MN" dirty="0"/>
              <a:t> ашигласан.</a:t>
            </a:r>
          </a:p>
          <a:p>
            <a:r>
              <a:rPr lang="mn-MN" dirty="0"/>
              <a:t>Бичлэгүүдийг 3 секундын давхцалтай сегментэд хуваан, нийт </a:t>
            </a:r>
            <a:r>
              <a:rPr lang="mn-MN" b="1" dirty="0"/>
              <a:t>68,097 сегмент</a:t>
            </a:r>
            <a:r>
              <a:rPr lang="mn-MN" dirty="0"/>
              <a:t> бэлтгэсэн.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mn-MN" dirty="0"/>
              <a:t>Зүрхний авианы дохиог шууд загварт оруулахын оронд </a:t>
            </a:r>
            <a:r>
              <a:rPr lang="mn-MN" b="1" dirty="0"/>
              <a:t>дөрвөн төрлийн цаг-давтамжийн дүрслэл</a:t>
            </a:r>
            <a:r>
              <a:rPr lang="mn-MN" dirty="0"/>
              <a:t> болгон хувиргасан:</a:t>
            </a:r>
          </a:p>
          <a:p>
            <a:r>
              <a:rPr lang="en-US" b="1" dirty="0"/>
              <a:t>Spectrogram</a:t>
            </a:r>
            <a:r>
              <a:rPr lang="en-US" dirty="0"/>
              <a:t> — </a:t>
            </a:r>
            <a:r>
              <a:rPr lang="mn-MN" dirty="0"/>
              <a:t>хамгийн үндсэн дүрслэл, </a:t>
            </a:r>
            <a:r>
              <a:rPr lang="en-US" dirty="0"/>
              <a:t>STFT-</a:t>
            </a:r>
            <a:r>
              <a:rPr lang="mn-MN" dirty="0"/>
              <a:t>д суурилсан, шугаман давтамжийн тэнхлэгтэй.</a:t>
            </a:r>
          </a:p>
          <a:p>
            <a:r>
              <a:rPr lang="en-US" b="1" dirty="0"/>
              <a:t>Mel-spectrogram</a:t>
            </a:r>
            <a:r>
              <a:rPr lang="en-US" dirty="0"/>
              <a:t> — </a:t>
            </a:r>
            <a:r>
              <a:rPr lang="mn-MN" dirty="0"/>
              <a:t>хүний сонсголын онцлогт ойр </a:t>
            </a:r>
            <a:r>
              <a:rPr lang="en-US" dirty="0"/>
              <a:t>Mel </a:t>
            </a:r>
            <a:r>
              <a:rPr lang="mn-MN" dirty="0"/>
              <a:t>хуваарьт шилжүүлсэн, бага давтамжийн мужийг нарийвчлан харуулдаг.</a:t>
            </a:r>
          </a:p>
          <a:p>
            <a:r>
              <a:rPr lang="en-US" b="1" dirty="0"/>
              <a:t>Log-Mel</a:t>
            </a:r>
            <a:r>
              <a:rPr lang="en-US" dirty="0"/>
              <a:t> — Mel-spectrogram-</a:t>
            </a:r>
            <a:r>
              <a:rPr lang="mn-MN" dirty="0"/>
              <a:t>ийн логарифм хувилбар, динамик мужийг тэнцвэржүүлдэг.</a:t>
            </a:r>
          </a:p>
          <a:p>
            <a:r>
              <a:rPr lang="en-US" b="1" dirty="0"/>
              <a:t>MFCC</a:t>
            </a:r>
            <a:r>
              <a:rPr lang="en-US" dirty="0"/>
              <a:t> — </a:t>
            </a:r>
            <a:r>
              <a:rPr lang="mn-MN" dirty="0"/>
              <a:t>спектрийн хэлбэрийг цөөн тооны коэффициентээр нягтруулан илэрхийлдэг, ярианы боловсруулалтад өргөн хэрэглэгддэг.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mn-MN" dirty="0"/>
              <a:t>Дөрвөн </a:t>
            </a:r>
            <a:r>
              <a:rPr lang="en-US" dirty="0"/>
              <a:t>CNN </a:t>
            </a:r>
            <a:r>
              <a:rPr lang="mn-MN" dirty="0"/>
              <a:t>архитектур туршсан:</a:t>
            </a:r>
          </a:p>
          <a:p>
            <a:r>
              <a:rPr lang="en-US" b="1" dirty="0"/>
              <a:t>Baseline CNN</a:t>
            </a:r>
            <a:r>
              <a:rPr lang="en-US" dirty="0"/>
              <a:t> — </a:t>
            </a:r>
            <a:r>
              <a:rPr lang="mn-MN" dirty="0"/>
              <a:t>харьцангуй энгийн бүтэц. 2</a:t>
            </a:r>
            <a:r>
              <a:rPr lang="en-US" dirty="0"/>
              <a:t>D convolution </a:t>
            </a:r>
            <a:r>
              <a:rPr lang="mn-MN" dirty="0"/>
              <a:t>давхаргуудаар дүрслэлээс локал хэв маяг суралцана. Суурь жишиг загвар болгон ашигласан.</a:t>
            </a:r>
          </a:p>
          <a:p>
            <a:r>
              <a:rPr lang="mn-MN" b="1" dirty="0"/>
              <a:t>1</a:t>
            </a:r>
            <a:r>
              <a:rPr lang="en-US" b="1" dirty="0"/>
              <a:t>D CNN</a:t>
            </a:r>
            <a:r>
              <a:rPr lang="en-US" dirty="0"/>
              <a:t> — raw waveform </a:t>
            </a:r>
            <a:r>
              <a:rPr lang="mn-MN" dirty="0"/>
              <a:t>дохио дээр шууд ажилладаг. Дөрвөн </a:t>
            </a:r>
            <a:r>
              <a:rPr lang="en-US" dirty="0"/>
              <a:t>Conv1d </a:t>
            </a:r>
            <a:r>
              <a:rPr lang="mn-MN" dirty="0"/>
              <a:t>блок, </a:t>
            </a:r>
            <a:r>
              <a:rPr lang="en-US" dirty="0" err="1"/>
              <a:t>BatchNorm</a:t>
            </a:r>
            <a:r>
              <a:rPr lang="en-US" dirty="0"/>
              <a:t>, Dropout </a:t>
            </a:r>
            <a:r>
              <a:rPr lang="mn-MN" dirty="0"/>
              <a:t>ашиглан хэт суралцахаас сэргийлсэн.</a:t>
            </a:r>
          </a:p>
          <a:p>
            <a:r>
              <a:rPr lang="mn-MN" b="1" dirty="0"/>
              <a:t>1</a:t>
            </a:r>
            <a:r>
              <a:rPr lang="en-US" b="1" dirty="0"/>
              <a:t>D </a:t>
            </a:r>
            <a:r>
              <a:rPr lang="en-US" b="1" dirty="0" err="1"/>
              <a:t>ResNet</a:t>
            </a:r>
            <a:r>
              <a:rPr lang="en-US" dirty="0"/>
              <a:t> — </a:t>
            </a:r>
            <a:r>
              <a:rPr lang="mn-MN" dirty="0"/>
              <a:t>энэ бол манай судалгааны гол архитектур. </a:t>
            </a:r>
            <a:r>
              <a:rPr lang="en-US" b="1" dirty="0"/>
              <a:t>Residual </a:t>
            </a:r>
            <a:r>
              <a:rPr lang="mn-MN" b="1" dirty="0"/>
              <a:t>холболт</a:t>
            </a:r>
            <a:r>
              <a:rPr lang="mn-MN" dirty="0"/>
              <a:t> нь тухайн блокийн оролтыг гаралттай шууд нэмж, </a:t>
            </a:r>
            <a:r>
              <a:rPr lang="en-US" dirty="0"/>
              <a:t>gradient vanishing </a:t>
            </a:r>
            <a:r>
              <a:rPr lang="mn-MN" dirty="0"/>
              <a:t>асуудлыг бууруулдаг. </a:t>
            </a:r>
            <a:r>
              <a:rPr lang="en-US" dirty="0"/>
              <a:t>Stem </a:t>
            </a:r>
            <a:r>
              <a:rPr lang="mn-MN" dirty="0"/>
              <a:t>давхарга болон дөрвөн </a:t>
            </a:r>
            <a:r>
              <a:rPr lang="en-US" dirty="0" err="1"/>
              <a:t>ResBlock</a:t>
            </a:r>
            <a:r>
              <a:rPr lang="en-US" dirty="0"/>
              <a:t>-</a:t>
            </a:r>
            <a:r>
              <a:rPr lang="mn-MN" dirty="0"/>
              <a:t>оос тогтоно.</a:t>
            </a:r>
          </a:p>
          <a:p>
            <a:r>
              <a:rPr lang="en-US" b="1" dirty="0"/>
              <a:t>CNN+LSTM</a:t>
            </a:r>
            <a:r>
              <a:rPr lang="en-US" dirty="0"/>
              <a:t> — CNN front-end </a:t>
            </a:r>
            <a:r>
              <a:rPr lang="mn-MN" dirty="0"/>
              <a:t>нь локал онцлог ялгаруулж, </a:t>
            </a:r>
            <a:r>
              <a:rPr lang="en-US" dirty="0"/>
              <a:t>bidirectional LSTM </a:t>
            </a:r>
            <a:r>
              <a:rPr lang="mn-MN" dirty="0"/>
              <a:t>нь хугацааны хамаарлыг суралцана. </a:t>
            </a:r>
            <a:r>
              <a:rPr lang="en-US" dirty="0"/>
              <a:t>S1 </a:t>
            </a:r>
            <a:r>
              <a:rPr lang="mn-MN" dirty="0"/>
              <a:t>авианаас диастол, </a:t>
            </a:r>
            <a:r>
              <a:rPr lang="en-US" dirty="0"/>
              <a:t>S2 </a:t>
            </a:r>
            <a:r>
              <a:rPr lang="mn-MN" dirty="0"/>
              <a:t>хүртэлх дарааллыг хоёр чиглэлд суралцах боломжтой.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mn-MN" dirty="0"/>
              <a:t>Эхлээд </a:t>
            </a:r>
            <a:r>
              <a:rPr lang="en-US" dirty="0"/>
              <a:t>Baseline CNN </a:t>
            </a:r>
            <a:r>
              <a:rPr lang="mn-MN" dirty="0"/>
              <a:t>загварт дөрвөн дүрслэлийг тус тус туршсан үр дүнг харцгаая.</a:t>
            </a:r>
          </a:p>
          <a:p>
            <a:r>
              <a:rPr lang="en-US" b="1" dirty="0"/>
              <a:t>MFCC</a:t>
            </a:r>
            <a:r>
              <a:rPr lang="en-US" dirty="0"/>
              <a:t> </a:t>
            </a:r>
            <a:r>
              <a:rPr lang="mn-MN" dirty="0"/>
              <a:t>нь </a:t>
            </a:r>
            <a:r>
              <a:rPr lang="en-US" dirty="0"/>
              <a:t>F1-score 0.822-</a:t>
            </a:r>
            <a:r>
              <a:rPr lang="mn-MN" dirty="0"/>
              <a:t>оор хамгийн тэнцвэртэй гүйцэтгэл үзүүлсэн — энэ нь хэвийн болон хэвийн бус ангилал хоёуланг адил сайн илрүүлж байна гэсэн үг.</a:t>
            </a:r>
          </a:p>
          <a:p>
            <a:r>
              <a:rPr lang="en-US" b="1" dirty="0"/>
              <a:t>Mel-spectrogram</a:t>
            </a:r>
            <a:r>
              <a:rPr lang="en-US" dirty="0"/>
              <a:t> </a:t>
            </a:r>
            <a:r>
              <a:rPr lang="mn-MN" dirty="0"/>
              <a:t>нь </a:t>
            </a:r>
            <a:r>
              <a:rPr lang="en-US" dirty="0"/>
              <a:t>recall 0.943-</a:t>
            </a:r>
            <a:r>
              <a:rPr lang="mn-MN" dirty="0"/>
              <a:t>аар хамгийн өндөр үнэ цэнэ үзүүлсэн. Эмнэлгийн хэрэглээнд </a:t>
            </a:r>
            <a:r>
              <a:rPr lang="mn-MN" b="1" dirty="0"/>
              <a:t>хэвийн бус тохиолдлыг алдалгүй илрүүлэх</a:t>
            </a:r>
            <a:r>
              <a:rPr lang="mn-MN" dirty="0"/>
              <a:t> нь эн тэргүүнд тавигддаг тул энэ үзүүлэлт онцгой ач холбогдолтой.</a:t>
            </a:r>
          </a:p>
          <a:p>
            <a:r>
              <a:rPr lang="en-US" b="1" dirty="0"/>
              <a:t>Spectrogram</a:t>
            </a:r>
            <a:r>
              <a:rPr lang="en-US" dirty="0"/>
              <a:t> </a:t>
            </a:r>
            <a:r>
              <a:rPr lang="mn-MN" dirty="0"/>
              <a:t>нь хамгийн өндөр </a:t>
            </a:r>
            <a:r>
              <a:rPr lang="en-US" dirty="0"/>
              <a:t>precision 0.807 — </a:t>
            </a:r>
            <a:r>
              <a:rPr lang="mn-MN" dirty="0"/>
              <a:t>буюу хамгийн цөөн хуурамч дохио гаргасан.</a:t>
            </a:r>
          </a:p>
          <a:p>
            <a:r>
              <a:rPr lang="mn-MN" dirty="0"/>
              <a:t>Дүгнэж хэлэхэд: </a:t>
            </a:r>
            <a:r>
              <a:rPr lang="mn-MN" b="1" dirty="0"/>
              <a:t>хэрэглэх зорилгоос хамаараад</a:t>
            </a:r>
            <a:r>
              <a:rPr lang="mn-MN" dirty="0"/>
              <a:t> дүрслэлийн сонголт өөр байна. Тэнцвэртэй гүйцэтгэл хэрэгтэй бол </a:t>
            </a:r>
            <a:r>
              <a:rPr lang="en-US" dirty="0"/>
              <a:t>MFCC, </a:t>
            </a:r>
            <a:r>
              <a:rPr lang="mn-MN" dirty="0"/>
              <a:t>максимум мэдрэмж хэрэгтэй бол </a:t>
            </a:r>
            <a:r>
              <a:rPr lang="en-US" dirty="0"/>
              <a:t>Mel-spectrogram </a:t>
            </a:r>
            <a:r>
              <a:rPr lang="mn-MN" dirty="0"/>
              <a:t>илүү тохиромжтой.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Raw waveform </a:t>
            </a:r>
            <a:r>
              <a:rPr lang="mn-MN" dirty="0"/>
              <a:t>оролттой гурван архитектурыг харьцуулсан үр дүн.</a:t>
            </a:r>
          </a:p>
          <a:p>
            <a:r>
              <a:rPr lang="mn-MN" b="1" dirty="0"/>
              <a:t>1</a:t>
            </a:r>
            <a:r>
              <a:rPr lang="en-US" b="1" dirty="0"/>
              <a:t>D </a:t>
            </a:r>
            <a:r>
              <a:rPr lang="en-US" b="1" dirty="0" err="1"/>
              <a:t>ResNet</a:t>
            </a:r>
            <a:r>
              <a:rPr lang="en-US" dirty="0"/>
              <a:t> </a:t>
            </a:r>
            <a:r>
              <a:rPr lang="mn-MN" dirty="0"/>
              <a:t>нь бүх үзүүлэлтэд тэргүүлсэн:</a:t>
            </a:r>
          </a:p>
          <a:p>
            <a:r>
              <a:rPr lang="en-US" dirty="0"/>
              <a:t>Accuracy: </a:t>
            </a:r>
            <a:r>
              <a:rPr lang="en-US" b="1" dirty="0"/>
              <a:t>88.68%</a:t>
            </a:r>
            <a:endParaRPr lang="en-US" dirty="0"/>
          </a:p>
          <a:p>
            <a:r>
              <a:rPr lang="en-US" dirty="0"/>
              <a:t>AUC-ROC: </a:t>
            </a:r>
            <a:r>
              <a:rPr lang="en-US" b="1" dirty="0"/>
              <a:t>0.9709</a:t>
            </a:r>
            <a:endParaRPr lang="en-US" dirty="0"/>
          </a:p>
          <a:p>
            <a:r>
              <a:rPr lang="en-US" dirty="0"/>
              <a:t>Sensitivity: </a:t>
            </a:r>
            <a:r>
              <a:rPr lang="en-US" b="1" dirty="0"/>
              <a:t>92.0%</a:t>
            </a:r>
            <a:endParaRPr lang="en-US" dirty="0"/>
          </a:p>
          <a:p>
            <a:r>
              <a:rPr lang="mn-MN" dirty="0"/>
              <a:t>Яагаад </a:t>
            </a:r>
            <a:r>
              <a:rPr lang="en-US" dirty="0" err="1"/>
              <a:t>ResNet</a:t>
            </a:r>
            <a:r>
              <a:rPr lang="en-US" dirty="0"/>
              <a:t> </a:t>
            </a:r>
            <a:r>
              <a:rPr lang="mn-MN" dirty="0"/>
              <a:t>давуу байсан вэ? </a:t>
            </a:r>
            <a:r>
              <a:rPr lang="en-US" dirty="0"/>
              <a:t>Residual </a:t>
            </a:r>
            <a:r>
              <a:rPr lang="mn-MN" dirty="0"/>
              <a:t>холболт нь </a:t>
            </a:r>
            <a:r>
              <a:rPr lang="en-US" b="1" dirty="0"/>
              <a:t>gradient vanishing </a:t>
            </a:r>
            <a:r>
              <a:rPr lang="mn-MN" b="1" dirty="0"/>
              <a:t>асуудлыг</a:t>
            </a:r>
            <a:r>
              <a:rPr lang="mn-MN" dirty="0"/>
              <a:t> бууруулснаар гүн сүлжээг тогтвортой сургах боломж олгосон. Мөн манай өгөгдлийн сан харьцангуй бага (3,240 бичлэг) тул энгийн боловч гүн </a:t>
            </a:r>
            <a:r>
              <a:rPr lang="en-US" dirty="0" err="1"/>
              <a:t>ResNet</a:t>
            </a:r>
            <a:r>
              <a:rPr lang="en-US" dirty="0"/>
              <a:t> </a:t>
            </a:r>
            <a:r>
              <a:rPr lang="mn-MN" dirty="0"/>
              <a:t>архитектур илүү тохиромжтой байсан.</a:t>
            </a:r>
          </a:p>
          <a:p>
            <a:r>
              <a:rPr lang="en-US" b="1" dirty="0"/>
              <a:t>CNN+LSTM</a:t>
            </a:r>
            <a:r>
              <a:rPr lang="en-US" dirty="0"/>
              <a:t> </a:t>
            </a:r>
            <a:r>
              <a:rPr lang="mn-MN" dirty="0"/>
              <a:t>нь 1</a:t>
            </a:r>
            <a:r>
              <a:rPr lang="en-US" dirty="0"/>
              <a:t>D CNN-</a:t>
            </a:r>
            <a:r>
              <a:rPr lang="mn-MN" dirty="0"/>
              <a:t>ийг арай давсан боловч </a:t>
            </a:r>
            <a:r>
              <a:rPr lang="en-US" dirty="0" err="1"/>
              <a:t>ResNet</a:t>
            </a:r>
            <a:r>
              <a:rPr lang="en-US" dirty="0"/>
              <a:t>-</a:t>
            </a:r>
            <a:r>
              <a:rPr lang="mn-MN" dirty="0"/>
              <a:t>ийн ард үлдсэн — өгөгдлийн хэмжээ бага тул </a:t>
            </a:r>
            <a:r>
              <a:rPr lang="en-US" dirty="0"/>
              <a:t>LSTM-</a:t>
            </a:r>
            <a:r>
              <a:rPr lang="mn-MN" dirty="0"/>
              <a:t>ийн нэмэлт параметрүүд хангалттай сургагдаагүй байж болзошгүй гэж үзэж байна.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mn-MN" dirty="0"/>
              <a:t>Манай судалгааны хамгийн сайн үр дүн болох </a:t>
            </a:r>
            <a:r>
              <a:rPr lang="en-US" dirty="0"/>
              <a:t>CNN+MFCC </a:t>
            </a:r>
            <a:r>
              <a:rPr lang="mn-MN" dirty="0"/>
              <a:t>нь </a:t>
            </a:r>
            <a:r>
              <a:rPr lang="en-US" dirty="0"/>
              <a:t>accuracy 91.1% </a:t>
            </a:r>
            <a:r>
              <a:rPr lang="mn-MN" dirty="0"/>
              <a:t>хүрч, </a:t>
            </a:r>
            <a:r>
              <a:rPr lang="en-US" dirty="0" err="1"/>
              <a:t>EnsembleCinC</a:t>
            </a:r>
            <a:r>
              <a:rPr lang="en-US" dirty="0"/>
              <a:t> 2022-</a:t>
            </a:r>
            <a:r>
              <a:rPr lang="mn-MN" dirty="0"/>
              <a:t>ийн 86.6%-ийг давлаа.</a:t>
            </a:r>
          </a:p>
          <a:p>
            <a:r>
              <a:rPr lang="mn-MN" dirty="0"/>
              <a:t>Харин </a:t>
            </a:r>
            <a:r>
              <a:rPr lang="en-US" dirty="0" err="1"/>
              <a:t>ResNet</a:t>
            </a:r>
            <a:r>
              <a:rPr lang="en-US" dirty="0"/>
              <a:t> </a:t>
            </a:r>
            <a:r>
              <a:rPr lang="mn-MN" dirty="0"/>
              <a:t>болон </a:t>
            </a:r>
            <a:r>
              <a:rPr lang="en-US" dirty="0"/>
              <a:t>attention mechanism </a:t>
            </a:r>
            <a:r>
              <a:rPr lang="mn-MN" dirty="0"/>
              <a:t>ашигласан сүүлийн үеийн судалгаанууд 94–97%-ийн нарийвчлалд хүрсэн байна.</a:t>
            </a:r>
          </a:p>
          <a:p>
            <a:r>
              <a:rPr lang="mn-MN" dirty="0"/>
              <a:t>Гэхдээ </a:t>
            </a:r>
            <a:r>
              <a:rPr lang="mn-MN" b="1" dirty="0"/>
              <a:t>шууд харьцуулалт хязгаарлагдмал</a:t>
            </a:r>
            <a:r>
              <a:rPr lang="mn-MN" dirty="0"/>
              <a:t> — учир нь туршилтын нөхцөл, өгөгдлийн хуваарилалт, урьдчилсан боловсруулалт бүгд ялгаатай. Энэхүү судалгааны </a:t>
            </a:r>
            <a:r>
              <a:rPr lang="mn-MN" b="1" dirty="0"/>
              <a:t>онцлог хувь нэмэр</a:t>
            </a:r>
            <a:r>
              <a:rPr lang="mn-MN" dirty="0"/>
              <a:t> нь нэг ижил нөхцөлд олон хослолыг системтэйгээр харьцуулснаас гаргасан дүгнэлтэд оршино.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mn-MN" dirty="0"/>
              <a:t>Судалгааны дөрвөн үндсэн дүгнэлт:</a:t>
            </a:r>
          </a:p>
          <a:p>
            <a:r>
              <a:rPr lang="mn-MN" b="1" dirty="0"/>
              <a:t>Нэгдүгээрт</a:t>
            </a:r>
            <a:r>
              <a:rPr lang="mn-MN" dirty="0"/>
              <a:t> — оролтын дүрслэлийн хувьд: </a:t>
            </a:r>
            <a:r>
              <a:rPr lang="en-US" dirty="0"/>
              <a:t>MFCC </a:t>
            </a:r>
            <a:r>
              <a:rPr lang="mn-MN" dirty="0"/>
              <a:t>нь хамгийн тэнцвэртэй (</a:t>
            </a:r>
            <a:r>
              <a:rPr lang="en-US" dirty="0"/>
              <a:t>F1 0.822), Mel-spectrogram </a:t>
            </a:r>
            <a:r>
              <a:rPr lang="mn-MN" dirty="0"/>
              <a:t>нь хамгийн өндөр </a:t>
            </a:r>
            <a:r>
              <a:rPr lang="en-US" dirty="0"/>
              <a:t>recall (0.943).</a:t>
            </a:r>
          </a:p>
          <a:p>
            <a:r>
              <a:rPr lang="mn-MN" b="1" dirty="0"/>
              <a:t>Хоёрдугаарт</a:t>
            </a:r>
            <a:r>
              <a:rPr lang="mn-MN" dirty="0"/>
              <a:t> — архитектурын хувьд: 1</a:t>
            </a:r>
            <a:r>
              <a:rPr lang="en-US" dirty="0"/>
              <a:t>D </a:t>
            </a:r>
            <a:r>
              <a:rPr lang="en-US" dirty="0" err="1"/>
              <a:t>ResNet</a:t>
            </a:r>
            <a:r>
              <a:rPr lang="en-US" dirty="0"/>
              <a:t> </a:t>
            </a:r>
            <a:r>
              <a:rPr lang="mn-MN" dirty="0"/>
              <a:t>нь </a:t>
            </a:r>
            <a:r>
              <a:rPr lang="en-US" dirty="0"/>
              <a:t>AUC-ROC 0.9709, accuracy 88.68%, sensitivity 92%-</a:t>
            </a:r>
            <a:r>
              <a:rPr lang="mn-MN" dirty="0"/>
              <a:t>аар хамгийн өндөр гүйцэтгэлтэй байсан.</a:t>
            </a:r>
          </a:p>
          <a:p>
            <a:r>
              <a:rPr lang="mn-MN" b="1" dirty="0"/>
              <a:t>Гуравдугаарт</a:t>
            </a:r>
            <a:r>
              <a:rPr lang="mn-MN" dirty="0"/>
              <a:t> — судалгааны хувь нэмэр: нэг ижил туршилтын орчинд 4×4 хослолыг системтэйгээр харьцуулсан. Мөн урьдчилсан боловсруулалт болон нормчлолын чанар нь эцсийн гүйцэтгэлд чухал нөлөөтэй болохыг бататгасан.</a:t>
            </a:r>
          </a:p>
          <a:p>
            <a:r>
              <a:rPr lang="mn-MN" b="1" dirty="0"/>
              <a:t>Цаашдын чиглэл</a:t>
            </a:r>
            <a:r>
              <a:rPr lang="mn-MN" dirty="0"/>
              <a:t> — </a:t>
            </a:r>
            <a:r>
              <a:rPr lang="en-US" dirty="0"/>
              <a:t>attention </a:t>
            </a:r>
            <a:r>
              <a:rPr lang="mn-MN" dirty="0"/>
              <a:t>механизм, </a:t>
            </a:r>
            <a:r>
              <a:rPr lang="en-US" dirty="0"/>
              <a:t>data augmentation </a:t>
            </a:r>
            <a:r>
              <a:rPr lang="mn-MN" dirty="0"/>
              <a:t>нэмэх, </a:t>
            </a:r>
            <a:r>
              <a:rPr lang="en-US" dirty="0"/>
              <a:t>murmur-</a:t>
            </a:r>
            <a:r>
              <a:rPr lang="mn-MN" dirty="0"/>
              <a:t>ийн дэд төрлүүдийг нарийвчлан ангилах, бодит орчны бичлэг дээр турших.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МОНГОЛ УЛСЫН ИХ СУРГУУЛЬ  ·  МЭДЭЭЛЛИЙН ТЕХНОЛОГИ, ЭЛЕКТРОНИКИЙН СУРГУУЛЬ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663077"/>
            <a:ext cx="8046720" cy="1508760"/>
          </a:xfrm>
          <a:prstGeom prst="rect">
            <a:avLst/>
          </a:prstGeom>
          <a:solidFill>
            <a:srgbClr val="D6E4F0">
              <a:alpha val="60000"/>
            </a:srgbClr>
          </a:solidFill>
          <a:ln w="9525">
            <a:solidFill>
              <a:srgbClr val="D0D8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2507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Зүрхний дуу авиа дээр суурилан</a:t>
            </a:r>
            <a:endParaRPr lang="en-US" sz="22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зүрхний хэмийн хэвийн бус байдлыг илрүүлэх судалгаа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4139946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mn-MN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Гүйцэтгэсэн: </a:t>
            </a: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Г. Хишигжаргал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19252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51256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Компьютерын ухаан  ·  2026 оны 4-р сар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242816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A3A5C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64592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Судалгааны зорилго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95360" y="1645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713232"/>
            <a:ext cx="8321040" cy="0"/>
          </a:xfrm>
          <a:prstGeom prst="line">
            <a:avLst/>
          </a:prstGeom>
          <a:noFill/>
          <a:ln w="9525">
            <a:solidFill>
              <a:srgbClr val="D0D8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868680"/>
            <a:ext cx="8321040" cy="658368"/>
          </a:xfrm>
          <a:prstGeom prst="rect">
            <a:avLst/>
          </a:prstGeom>
          <a:solidFill>
            <a:srgbClr val="D6E4F0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91440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Зүрхний өвчин нь дэлхийн тэргүүлэх нас баралтын шалтгаан. Зүрхний авиан дохионоос (PCG) хэвийн бус хэмнэлийг автоматаар илрүүлэх систем нь эрт оношлогоог дэмжих боломжтой.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1691640"/>
            <a:ext cx="26517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6072" y="1874520"/>
            <a:ext cx="502920" cy="50292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10" name="Text 8"/>
          <p:cNvSpPr/>
          <p:nvPr/>
        </p:nvSpPr>
        <p:spPr>
          <a:xfrm>
            <a:off x="576072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187452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Оролтын дүрслэл харьцуулах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76072" y="2487168"/>
            <a:ext cx="2322576" cy="0"/>
          </a:xfrm>
          <a:prstGeom prst="line">
            <a:avLst/>
          </a:prstGeom>
          <a:noFill/>
          <a:ln w="6350">
            <a:solidFill>
              <a:srgbClr val="D0D8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578608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Spectrogram · Mel-spectrogram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Log-Mel · MFCC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дөрвөн дүрслэлийг нэг нөхцөлд туршина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27832" y="1691640"/>
            <a:ext cx="26517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92424" y="1874520"/>
            <a:ext cx="502920" cy="50292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3392424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005072" y="187452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 харьцуулах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92424" y="2487168"/>
            <a:ext cx="2322576" cy="0"/>
          </a:xfrm>
          <a:prstGeom prst="line">
            <a:avLst/>
          </a:prstGeom>
          <a:noFill/>
          <a:ln w="6350">
            <a:solidFill>
              <a:srgbClr val="D0D8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92424" y="2578608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CNN · 1D CNN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ResNet · CNN+LSTM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дөрвөн загварыг туршина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44184" y="1691640"/>
            <a:ext cx="26517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08776" y="1874520"/>
            <a:ext cx="502920" cy="50292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6208776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21424" y="187452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Оптимал хослол тодорхойлох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08776" y="2487168"/>
            <a:ext cx="2322576" cy="0"/>
          </a:xfrm>
          <a:prstGeom prst="line">
            <a:avLst/>
          </a:prstGeom>
          <a:noFill/>
          <a:ln w="6350">
            <a:solidFill>
              <a:srgbClr val="D0D8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08776" y="2578608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Хамгийн тохиромжтой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дүрслэл + архитектурын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хослолыг тогтооно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64592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Өгөгдлийн сан — PhysioNet/CinC 2016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95360" y="1645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713232"/>
            <a:ext cx="8321040" cy="0"/>
          </a:xfrm>
          <a:prstGeom prst="line">
            <a:avLst/>
          </a:prstGeom>
          <a:noFill/>
          <a:ln w="9525">
            <a:solidFill>
              <a:srgbClr val="D0D8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14400"/>
            <a:ext cx="47548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005840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Нийт бичлэг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520440" y="1005840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3,240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1572768"/>
            <a:ext cx="4754880" cy="594360"/>
          </a:xfrm>
          <a:prstGeom prst="rect">
            <a:avLst/>
          </a:prstGeom>
          <a:solidFill>
            <a:srgbClr val="F3F7FB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664208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Түүвэрлэлтийн давтамж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20440" y="1664208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Hz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1480" y="2231136"/>
            <a:ext cx="47548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322576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Дундаж үргэлжлэх хугацаа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20440" y="2322576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22.46 сек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1480" y="2889504"/>
            <a:ext cx="4754880" cy="594360"/>
          </a:xfrm>
          <a:prstGeom prst="rect">
            <a:avLst/>
          </a:prstGeom>
          <a:solidFill>
            <a:srgbClr val="F3F7FB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980944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Хугацааны хүрээ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20440" y="2980944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5.31 – 122.0 сек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" y="3547872"/>
            <a:ext cx="47548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639312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Нийт сегмент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20440" y="3639312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68,097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577840" y="10058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Ангиллын тархалт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715000" y="1389888"/>
            <a:ext cx="2880360" cy="0"/>
          </a:xfrm>
          <a:prstGeom prst="line">
            <a:avLst/>
          </a:prstGeom>
          <a:noFill/>
          <a:ln w="6350">
            <a:solidFill>
              <a:srgbClr val="D0D8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15000" y="1389887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Хэвийн бус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60920" y="1389887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2,575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715000" y="1709927"/>
            <a:ext cx="2834640" cy="347472"/>
          </a:xfrm>
          <a:prstGeom prst="rect">
            <a:avLst/>
          </a:prstGeom>
          <a:solidFill>
            <a:srgbClr val="D0D8E0"/>
          </a:solidFill>
          <a:ln/>
        </p:spPr>
      </p:sp>
      <p:sp>
        <p:nvSpPr>
          <p:cNvPr id="27" name="Shape 25"/>
          <p:cNvSpPr/>
          <p:nvPr/>
        </p:nvSpPr>
        <p:spPr>
          <a:xfrm>
            <a:off x="5715000" y="1709927"/>
            <a:ext cx="2253539" cy="347472"/>
          </a:xfrm>
          <a:prstGeom prst="rect">
            <a:avLst/>
          </a:prstGeom>
          <a:solidFill>
            <a:srgbClr val="2563A8"/>
          </a:solidFill>
          <a:ln/>
        </p:spPr>
      </p:sp>
      <p:sp>
        <p:nvSpPr>
          <p:cNvPr id="28" name="Text 26"/>
          <p:cNvSpPr/>
          <p:nvPr/>
        </p:nvSpPr>
        <p:spPr>
          <a:xfrm>
            <a:off x="5715000" y="1709927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79.5%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715000" y="2057399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Хэвийн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360920" y="2057399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665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715000" y="2377439"/>
            <a:ext cx="2834640" cy="347472"/>
          </a:xfrm>
          <a:prstGeom prst="rect">
            <a:avLst/>
          </a:prstGeom>
          <a:solidFill>
            <a:srgbClr val="D0D8E0"/>
          </a:solidFill>
          <a:ln/>
        </p:spPr>
      </p:sp>
      <p:sp>
        <p:nvSpPr>
          <p:cNvPr id="32" name="Shape 30"/>
          <p:cNvSpPr/>
          <p:nvPr/>
        </p:nvSpPr>
        <p:spPr>
          <a:xfrm>
            <a:off x="5715000" y="2377439"/>
            <a:ext cx="581101" cy="347472"/>
          </a:xfrm>
          <a:prstGeom prst="rect">
            <a:avLst/>
          </a:prstGeom>
          <a:solidFill>
            <a:srgbClr val="4A7FB5"/>
          </a:solidFill>
          <a:ln/>
        </p:spPr>
      </p:sp>
      <p:sp>
        <p:nvSpPr>
          <p:cNvPr id="33" name="Text 31"/>
          <p:cNvSpPr/>
          <p:nvPr/>
        </p:nvSpPr>
        <p:spPr>
          <a:xfrm>
            <a:off x="5715000" y="2377439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715000" y="2922462"/>
            <a:ext cx="2834640" cy="530352"/>
          </a:xfrm>
          <a:prstGeom prst="rect">
            <a:avLst/>
          </a:prstGeom>
          <a:solidFill>
            <a:srgbClr val="D6E4F0">
              <a:alpha val="70000"/>
            </a:srgbClr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52160" y="296818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Тэнцвэргүй тархалт →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weight тохируулга ашигласан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11480" y="4224528"/>
            <a:ext cx="4754880" cy="594360"/>
          </a:xfrm>
          <a:prstGeom prst="rect">
            <a:avLst/>
          </a:prstGeom>
          <a:solidFill>
            <a:srgbClr val="F3F7FB"/>
          </a:solidFill>
          <a:ln w="9525">
            <a:solidFill>
              <a:srgbClr val="D0D8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4279392"/>
            <a:ext cx="44805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 шуугиан бууруулах  →  сегментлэх (3 сек, 50% давхцал)  →  энерги шүүлт  →  z-score нормчлол</a:t>
            </a:r>
            <a:endParaRPr lang="en-US" sz="1100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3FE6C2C6-FBB6-EA77-02EF-4A6ECC8274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7841" y="3838560"/>
            <a:ext cx="3500397" cy="9437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64592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Оролтын дүрслэлүүд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95360" y="1645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713232"/>
            <a:ext cx="8321040" cy="0"/>
          </a:xfrm>
          <a:prstGeom prst="line">
            <a:avLst/>
          </a:prstGeom>
          <a:noFill/>
          <a:ln w="9525">
            <a:solidFill>
              <a:srgbClr val="D0D8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68680"/>
            <a:ext cx="201168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868680"/>
            <a:ext cx="2011680" cy="566928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89611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Spectrogram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48132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STFT-д суурилсан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1901952"/>
            <a:ext cx="1737360" cy="0"/>
          </a:xfrm>
          <a:prstGeom prst="line">
            <a:avLst/>
          </a:prstGeom>
          <a:noFill/>
          <a:ln w="6350">
            <a:solidFill>
              <a:srgbClr val="D0D8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" y="2103120"/>
            <a:ext cx="73152" cy="256032"/>
          </a:xfrm>
          <a:prstGeom prst="rect">
            <a:avLst/>
          </a:prstGeom>
          <a:solidFill>
            <a:srgbClr val="4A7FB5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011680"/>
            <a:ext cx="1600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Шугаман давтамжийн тэнхлэг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" y="2724912"/>
            <a:ext cx="73152" cy="256032"/>
          </a:xfrm>
          <a:prstGeom prst="rect">
            <a:avLst/>
          </a:prstGeom>
          <a:solidFill>
            <a:srgbClr val="4A7FB5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633472"/>
            <a:ext cx="1600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Хугацаа × Давтамж × Энерги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346704"/>
            <a:ext cx="73152" cy="256032"/>
          </a:xfrm>
          <a:prstGeom prst="rect">
            <a:avLst/>
          </a:prstGeom>
          <a:solidFill>
            <a:srgbClr val="4A7FB5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255264"/>
            <a:ext cx="1600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Суурь дүрслэл — жишиг болгон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450592" y="868680"/>
            <a:ext cx="201168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450592" y="868680"/>
            <a:ext cx="2011680" cy="566928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2542032" y="89611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Mel-spectrogram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542032" y="148132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 хуваарьт шилжүүлсэн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587752" y="1901952"/>
            <a:ext cx="1737360" cy="0"/>
          </a:xfrm>
          <a:prstGeom prst="line">
            <a:avLst/>
          </a:prstGeom>
          <a:noFill/>
          <a:ln w="6350">
            <a:solidFill>
              <a:srgbClr val="D0D8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15184" y="2103120"/>
            <a:ext cx="73152" cy="256032"/>
          </a:xfrm>
          <a:prstGeom prst="rect">
            <a:avLst/>
          </a:prstGeom>
          <a:solidFill>
            <a:srgbClr val="4A7FB5"/>
          </a:solidFill>
          <a:ln/>
        </p:spPr>
      </p:sp>
      <p:sp>
        <p:nvSpPr>
          <p:cNvPr id="23" name="Text 21"/>
          <p:cNvSpPr/>
          <p:nvPr/>
        </p:nvSpPr>
        <p:spPr>
          <a:xfrm>
            <a:off x="2770632" y="2011680"/>
            <a:ext cx="1600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Хүний сонсголын онцлогт ойр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615184" y="2724912"/>
            <a:ext cx="73152" cy="256032"/>
          </a:xfrm>
          <a:prstGeom prst="rect">
            <a:avLst/>
          </a:prstGeom>
          <a:solidFill>
            <a:srgbClr val="4A7FB5"/>
          </a:solidFill>
          <a:ln/>
        </p:spPr>
      </p:sp>
      <p:sp>
        <p:nvSpPr>
          <p:cNvPr id="25" name="Text 23"/>
          <p:cNvSpPr/>
          <p:nvPr/>
        </p:nvSpPr>
        <p:spPr>
          <a:xfrm>
            <a:off x="2770632" y="2633472"/>
            <a:ext cx="1600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 давтамжийг нарийвчлалтай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615184" y="3346704"/>
            <a:ext cx="73152" cy="256032"/>
          </a:xfrm>
          <a:prstGeom prst="rect">
            <a:avLst/>
          </a:prstGeom>
          <a:solidFill>
            <a:srgbClr val="4A7FB5"/>
          </a:solidFill>
          <a:ln/>
        </p:spPr>
      </p:sp>
      <p:sp>
        <p:nvSpPr>
          <p:cNvPr id="27" name="Text 25"/>
          <p:cNvSpPr/>
          <p:nvPr/>
        </p:nvSpPr>
        <p:spPr>
          <a:xfrm>
            <a:off x="2770632" y="3255264"/>
            <a:ext cx="1600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S1, S2 авианд тохиромжтой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626864" y="868680"/>
            <a:ext cx="201168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26864" y="868680"/>
            <a:ext cx="2011680" cy="566928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0" name="Text 28"/>
          <p:cNvSpPr/>
          <p:nvPr/>
        </p:nvSpPr>
        <p:spPr>
          <a:xfrm>
            <a:off x="4718304" y="89611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Log-Mel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18304" y="148132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Mel-spec-ийн логарифм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64024" y="1901952"/>
            <a:ext cx="1737360" cy="0"/>
          </a:xfrm>
          <a:prstGeom prst="line">
            <a:avLst/>
          </a:prstGeom>
          <a:noFill/>
          <a:ln w="6350">
            <a:solidFill>
              <a:srgbClr val="D0D8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91456" y="2103120"/>
            <a:ext cx="73152" cy="256032"/>
          </a:xfrm>
          <a:prstGeom prst="rect">
            <a:avLst/>
          </a:prstGeom>
          <a:solidFill>
            <a:srgbClr val="4A7FB5"/>
          </a:solidFill>
          <a:ln/>
        </p:spPr>
      </p:sp>
      <p:sp>
        <p:nvSpPr>
          <p:cNvPr id="34" name="Text 32"/>
          <p:cNvSpPr/>
          <p:nvPr/>
        </p:nvSpPr>
        <p:spPr>
          <a:xfrm>
            <a:off x="4946904" y="2011680"/>
            <a:ext cx="1600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Динамик мужийг тэнцвэржүүлсэн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91456" y="2724912"/>
            <a:ext cx="73152" cy="256032"/>
          </a:xfrm>
          <a:prstGeom prst="rect">
            <a:avLst/>
          </a:prstGeom>
          <a:solidFill>
            <a:srgbClr val="4A7FB5"/>
          </a:solidFill>
          <a:ln/>
        </p:spPr>
      </p:sp>
      <p:sp>
        <p:nvSpPr>
          <p:cNvPr id="36" name="Text 34"/>
          <p:cNvSpPr/>
          <p:nvPr/>
        </p:nvSpPr>
        <p:spPr>
          <a:xfrm>
            <a:off x="4946904" y="2633472"/>
            <a:ext cx="1600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 энергийн онцлогийг тодруулна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791456" y="3346704"/>
            <a:ext cx="73152" cy="256032"/>
          </a:xfrm>
          <a:prstGeom prst="rect">
            <a:avLst/>
          </a:prstGeom>
          <a:solidFill>
            <a:srgbClr val="4A7FB5"/>
          </a:solidFill>
          <a:ln/>
        </p:spPr>
      </p:sp>
      <p:sp>
        <p:nvSpPr>
          <p:cNvPr id="38" name="Text 36"/>
          <p:cNvSpPr/>
          <p:nvPr/>
        </p:nvSpPr>
        <p:spPr>
          <a:xfrm>
            <a:off x="4946904" y="3255264"/>
            <a:ext cx="1600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Гүн сургалтад өргөн хэрэглэгддэг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803136" y="868680"/>
            <a:ext cx="201168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03136" y="868680"/>
            <a:ext cx="2011680" cy="566928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41" name="Text 39"/>
          <p:cNvSpPr/>
          <p:nvPr/>
        </p:nvSpPr>
        <p:spPr>
          <a:xfrm>
            <a:off x="6894576" y="89611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MFCC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894576" y="148132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Cepstral коэффициент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940296" y="1901952"/>
            <a:ext cx="1737360" cy="0"/>
          </a:xfrm>
          <a:prstGeom prst="line">
            <a:avLst/>
          </a:prstGeom>
          <a:noFill/>
          <a:ln w="6350">
            <a:solidFill>
              <a:srgbClr val="D0D8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967728" y="2103120"/>
            <a:ext cx="73152" cy="256032"/>
          </a:xfrm>
          <a:prstGeom prst="rect">
            <a:avLst/>
          </a:prstGeom>
          <a:solidFill>
            <a:srgbClr val="4A7FB5"/>
          </a:solidFill>
          <a:ln/>
        </p:spPr>
      </p:sp>
      <p:sp>
        <p:nvSpPr>
          <p:cNvPr id="45" name="Text 43"/>
          <p:cNvSpPr/>
          <p:nvPr/>
        </p:nvSpPr>
        <p:spPr>
          <a:xfrm>
            <a:off x="7123176" y="2011680"/>
            <a:ext cx="1600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Спектрийн хэлбэрийг нягтруулсан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967728" y="2724912"/>
            <a:ext cx="73152" cy="256032"/>
          </a:xfrm>
          <a:prstGeom prst="rect">
            <a:avLst/>
          </a:prstGeom>
          <a:solidFill>
            <a:srgbClr val="4A7FB5"/>
          </a:solidFill>
          <a:ln/>
        </p:spPr>
      </p:sp>
      <p:sp>
        <p:nvSpPr>
          <p:cNvPr id="47" name="Text 45"/>
          <p:cNvSpPr/>
          <p:nvPr/>
        </p:nvSpPr>
        <p:spPr>
          <a:xfrm>
            <a:off x="7123176" y="2633472"/>
            <a:ext cx="1600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13–40 коэффициент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967728" y="3346704"/>
            <a:ext cx="73152" cy="256032"/>
          </a:xfrm>
          <a:prstGeom prst="rect">
            <a:avLst/>
          </a:prstGeom>
          <a:solidFill>
            <a:srgbClr val="4A7FB5"/>
          </a:solidFill>
          <a:ln/>
        </p:spPr>
      </p:sp>
      <p:sp>
        <p:nvSpPr>
          <p:cNvPr id="49" name="Text 47"/>
          <p:cNvSpPr/>
          <p:nvPr/>
        </p:nvSpPr>
        <p:spPr>
          <a:xfrm>
            <a:off x="7123176" y="3255264"/>
            <a:ext cx="1600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Ярианы боловсруулалтад стандарт</a:t>
            </a:r>
            <a:endParaRPr lang="en-US" sz="1200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05D737A9-D197-8267-3E72-61DCC363D1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322" y="3758183"/>
            <a:ext cx="1853676" cy="995244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804A07B6-6B93-2F1B-FBCB-66F47DAE48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5117" y="3758923"/>
            <a:ext cx="1895715" cy="1031793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A6A4F5B-2943-B9AD-138D-4B6FD52FE0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6605" y="3725150"/>
            <a:ext cx="1972197" cy="106131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45F3A25B-6E15-AC1D-4C4A-7C1C4FE653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7651" y="3707893"/>
            <a:ext cx="1982650" cy="10628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64592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CNN-д суурилсан архитектурууд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95360" y="1645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713232"/>
            <a:ext cx="8321040" cy="0"/>
          </a:xfrm>
          <a:prstGeom prst="line">
            <a:avLst/>
          </a:prstGeom>
          <a:noFill/>
          <a:ln w="9525">
            <a:solidFill>
              <a:srgbClr val="D0D8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14400"/>
            <a:ext cx="1600200" cy="749808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914400"/>
            <a:ext cx="1600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CNN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48840" y="1005840"/>
            <a:ext cx="12801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48840" y="1005840"/>
            <a:ext cx="1280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Conv×2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29000" y="1115568"/>
            <a:ext cx="1828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11880" y="1005840"/>
            <a:ext cx="12801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11880" y="1005840"/>
            <a:ext cx="1280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MaxPool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92040" y="1115568"/>
            <a:ext cx="1828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74920" y="1005840"/>
            <a:ext cx="12801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74920" y="1005840"/>
            <a:ext cx="1280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55080" y="1115568"/>
            <a:ext cx="1828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537960" y="1005840"/>
            <a:ext cx="12801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1005840"/>
            <a:ext cx="1280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55280" y="960120"/>
            <a:ext cx="10972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дүрслэл дээр</a:t>
            </a:r>
            <a:endParaRPr lang="en-US" sz="10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Суурь жишиг загвар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1737360"/>
            <a:ext cx="8321040" cy="0"/>
          </a:xfrm>
          <a:prstGeom prst="line">
            <a:avLst/>
          </a:prstGeom>
          <a:noFill/>
          <a:ln w="6350">
            <a:solidFill>
              <a:srgbClr val="D0D8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1901952"/>
            <a:ext cx="1600200" cy="749808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1901952"/>
            <a:ext cx="1600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CNN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148840" y="1993392"/>
            <a:ext cx="12801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48840" y="1993392"/>
            <a:ext cx="1280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Conv1d×4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29000" y="2103120"/>
            <a:ext cx="1828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611880" y="1993392"/>
            <a:ext cx="12801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11880" y="1993392"/>
            <a:ext cx="1280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BN+ReLU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92040" y="2103120"/>
            <a:ext cx="1828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074920" y="1993392"/>
            <a:ext cx="12801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4920" y="1993392"/>
            <a:ext cx="1280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AvgPool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355080" y="2103120"/>
            <a:ext cx="1828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537960" y="1993392"/>
            <a:ext cx="12801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37960" y="1993392"/>
            <a:ext cx="1280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0.4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955280" y="1947672"/>
            <a:ext cx="10972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waveform</a:t>
            </a:r>
            <a:endParaRPr lang="en-US" sz="10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Шууд боловсруулалт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1480" y="2724912"/>
            <a:ext cx="8321040" cy="0"/>
          </a:xfrm>
          <a:prstGeom prst="line">
            <a:avLst/>
          </a:prstGeom>
          <a:noFill/>
          <a:ln w="6350">
            <a:solidFill>
              <a:srgbClr val="D0D8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1480" y="2889504"/>
            <a:ext cx="1600200" cy="749808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7" name="Text 35"/>
          <p:cNvSpPr/>
          <p:nvPr/>
        </p:nvSpPr>
        <p:spPr>
          <a:xfrm>
            <a:off x="411480" y="2889504"/>
            <a:ext cx="1600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ResNet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148840" y="2980944"/>
            <a:ext cx="12801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48840" y="2980944"/>
            <a:ext cx="1280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 k=15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429000" y="3090672"/>
            <a:ext cx="1828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3611880" y="2980944"/>
            <a:ext cx="12801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11880" y="2980944"/>
            <a:ext cx="1280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ResBlock×4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892040" y="3090672"/>
            <a:ext cx="1828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5074920" y="2980944"/>
            <a:ext cx="12801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74920" y="2980944"/>
            <a:ext cx="1280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355080" y="3090672"/>
            <a:ext cx="1828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537960" y="2980944"/>
            <a:ext cx="12801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37960" y="2980944"/>
            <a:ext cx="1280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955280" y="2935224"/>
            <a:ext cx="10972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холболт</a:t>
            </a:r>
            <a:endParaRPr lang="en-US" sz="10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vanishing ↓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11480" y="3712464"/>
            <a:ext cx="8321040" cy="0"/>
          </a:xfrm>
          <a:prstGeom prst="line">
            <a:avLst/>
          </a:prstGeom>
          <a:noFill/>
          <a:ln w="6350">
            <a:solidFill>
              <a:srgbClr val="D0D8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11480" y="3877056"/>
            <a:ext cx="1600200" cy="749808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52" name="Text 50"/>
          <p:cNvSpPr/>
          <p:nvPr/>
        </p:nvSpPr>
        <p:spPr>
          <a:xfrm>
            <a:off x="411480" y="3877056"/>
            <a:ext cx="1600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+ LSTM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148840" y="3968496"/>
            <a:ext cx="12801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148840" y="3968496"/>
            <a:ext cx="1280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Conv1d×3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3429000" y="4078224"/>
            <a:ext cx="1828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3611880" y="3968496"/>
            <a:ext cx="12801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11880" y="3968496"/>
            <a:ext cx="1280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map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4892040" y="4078224"/>
            <a:ext cx="1828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5074920" y="3968496"/>
            <a:ext cx="12801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74920" y="3968496"/>
            <a:ext cx="1280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BiLSTM×2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355080" y="4078224"/>
            <a:ext cx="1828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6537960" y="3968496"/>
            <a:ext cx="12801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37960" y="3968496"/>
            <a:ext cx="1280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7955280" y="3922776"/>
            <a:ext cx="10972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Хугацааны хамаарал</a:t>
            </a:r>
            <a:endParaRPr lang="en-US" sz="10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→ систол → S2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480" y="4709160"/>
            <a:ext cx="8321040" cy="320040"/>
          </a:xfrm>
          <a:prstGeom prst="rect">
            <a:avLst/>
          </a:prstGeom>
          <a:solidFill>
            <a:srgbClr val="F3F7FB"/>
          </a:solidFill>
          <a:ln w="9525">
            <a:solidFill>
              <a:srgbClr val="D0D8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8640" y="473659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CNN нь 2D дүрслэлтэй · 1D CNN, ResNet, CNN+LSTM нь raw waveform-тай туршигдсан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64592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Үр дүн 1 — Оролтын дүрслэлийн харьцуулалт (Baseline CNN)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95360" y="1645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713232"/>
            <a:ext cx="8321040" cy="0"/>
          </a:xfrm>
          <a:prstGeom prst="line">
            <a:avLst/>
          </a:prstGeom>
          <a:noFill/>
          <a:ln w="9525">
            <a:solidFill>
              <a:srgbClr val="D0D8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14400"/>
            <a:ext cx="1371600" cy="438912"/>
          </a:xfrm>
          <a:prstGeom prst="rect">
            <a:avLst/>
          </a:prstGeom>
          <a:solidFill>
            <a:srgbClr val="1A3A5C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14400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Арга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783080" y="914400"/>
            <a:ext cx="1188720" cy="438912"/>
          </a:xfrm>
          <a:prstGeom prst="rect">
            <a:avLst/>
          </a:prstGeom>
          <a:solidFill>
            <a:srgbClr val="1A3A5C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914400"/>
            <a:ext cx="1097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971800" y="914400"/>
            <a:ext cx="1188720" cy="438912"/>
          </a:xfrm>
          <a:prstGeom prst="rect">
            <a:avLst/>
          </a:prstGeom>
          <a:solidFill>
            <a:srgbClr val="1A3A5C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17520" y="914400"/>
            <a:ext cx="1097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60520" y="914400"/>
            <a:ext cx="1188720" cy="438912"/>
          </a:xfrm>
          <a:prstGeom prst="rect">
            <a:avLst/>
          </a:prstGeom>
          <a:solidFill>
            <a:srgbClr val="1A3A5C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914400"/>
            <a:ext cx="1097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349240" y="914400"/>
            <a:ext cx="1188720" cy="438912"/>
          </a:xfrm>
          <a:prstGeom prst="rect">
            <a:avLst/>
          </a:prstGeom>
          <a:solidFill>
            <a:srgbClr val="1A3A5C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914400"/>
            <a:ext cx="1097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914400"/>
            <a:ext cx="2148840" cy="438912"/>
          </a:xfrm>
          <a:prstGeom prst="rect">
            <a:avLst/>
          </a:prstGeom>
          <a:solidFill>
            <a:srgbClr val="1A3A5C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914400"/>
            <a:ext cx="2057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Тэмдэглэл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353312"/>
            <a:ext cx="13716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353312"/>
            <a:ext cx="1280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Mel-Spec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783080" y="1353312"/>
            <a:ext cx="11887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1353312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0.898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2971800" y="1353312"/>
            <a:ext cx="11887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17520" y="1353312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0.714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160520" y="1353312"/>
            <a:ext cx="11887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06240" y="1353312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0.943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349240" y="1353312"/>
            <a:ext cx="11887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94960" y="1353312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0.813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537960" y="1353312"/>
            <a:ext cx="21488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0" y="1353312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Хамгийн өндөр Recall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11480" y="1856232"/>
            <a:ext cx="1371600" cy="475488"/>
          </a:xfrm>
          <a:prstGeom prst="rect">
            <a:avLst/>
          </a:prstGeom>
          <a:solidFill>
            <a:srgbClr val="F3F7FB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1856232"/>
            <a:ext cx="1280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MFCC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1783080" y="1856232"/>
            <a:ext cx="1188720" cy="475488"/>
          </a:xfrm>
          <a:prstGeom prst="rect">
            <a:avLst/>
          </a:prstGeom>
          <a:solidFill>
            <a:srgbClr val="F3F7FB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0" y="1856232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0.911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2971800" y="1856232"/>
            <a:ext cx="1188720" cy="475488"/>
          </a:xfrm>
          <a:prstGeom prst="rect">
            <a:avLst/>
          </a:prstGeom>
          <a:solidFill>
            <a:srgbClr val="F3F7FB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017520" y="1856232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0.778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4160520" y="1856232"/>
            <a:ext cx="1188720" cy="475488"/>
          </a:xfrm>
          <a:prstGeom prst="rect">
            <a:avLst/>
          </a:prstGeom>
          <a:solidFill>
            <a:srgbClr val="F3F7FB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206240" y="1856232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0.872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5349240" y="1856232"/>
            <a:ext cx="1188720" cy="475488"/>
          </a:xfrm>
          <a:prstGeom prst="rect">
            <a:avLst/>
          </a:prstGeom>
          <a:solidFill>
            <a:srgbClr val="F3F7FB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94960" y="1856232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0.822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6537960" y="1856232"/>
            <a:ext cx="2148840" cy="475488"/>
          </a:xfrm>
          <a:prstGeom prst="rect">
            <a:avLst/>
          </a:prstGeom>
          <a:solidFill>
            <a:srgbClr val="F3F7FB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0" y="1856232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Хамгийн тэнцвэртэй F1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411480" y="2359152"/>
            <a:ext cx="13716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2359152"/>
            <a:ext cx="1280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Spectrogram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1783080" y="2359152"/>
            <a:ext cx="11887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828800" y="2359152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0.911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2971800" y="2359152"/>
            <a:ext cx="11887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17520" y="2359152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0.807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4160520" y="2359152"/>
            <a:ext cx="11887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206240" y="2359152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0.816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5349240" y="2359152"/>
            <a:ext cx="11887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94960" y="2359152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0.812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6537960" y="2359152"/>
            <a:ext cx="21488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83680" y="2359152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Хамгийн өндөр Precision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411480" y="2862072"/>
            <a:ext cx="1371600" cy="475488"/>
          </a:xfrm>
          <a:prstGeom prst="rect">
            <a:avLst/>
          </a:prstGeom>
          <a:solidFill>
            <a:srgbClr val="F3F7FB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2862072"/>
            <a:ext cx="1280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Log-Mel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1783080" y="2862072"/>
            <a:ext cx="1188720" cy="475488"/>
          </a:xfrm>
          <a:prstGeom prst="rect">
            <a:avLst/>
          </a:prstGeom>
          <a:solidFill>
            <a:srgbClr val="F3F7FB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828800" y="2862072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0.906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2971800" y="2862072"/>
            <a:ext cx="1188720" cy="475488"/>
          </a:xfrm>
          <a:prstGeom prst="rect">
            <a:avLst/>
          </a:prstGeom>
          <a:solidFill>
            <a:srgbClr val="F3F7FB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017520" y="2862072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0.785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4160520" y="2862072"/>
            <a:ext cx="1188720" cy="475488"/>
          </a:xfrm>
          <a:prstGeom prst="rect">
            <a:avLst/>
          </a:prstGeom>
          <a:solidFill>
            <a:srgbClr val="F3F7FB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206240" y="2862072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0.831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5349240" y="2862072"/>
            <a:ext cx="1188720" cy="475488"/>
          </a:xfrm>
          <a:prstGeom prst="rect">
            <a:avLst/>
          </a:prstGeom>
          <a:solidFill>
            <a:srgbClr val="F3F7FB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394960" y="2862072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0.807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537960" y="2862072"/>
            <a:ext cx="2148840" cy="475488"/>
          </a:xfrm>
          <a:prstGeom prst="rect">
            <a:avLst/>
          </a:prstGeom>
          <a:solidFill>
            <a:srgbClr val="F3F7FB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0" y="2862072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Дундаж гүйцэтгэл</a:t>
            </a:r>
            <a:endParaRPr lang="en-US" sz="1250" dirty="0"/>
          </a:p>
        </p:txBody>
      </p:sp>
      <p:sp>
        <p:nvSpPr>
          <p:cNvPr id="66" name="Shape 64"/>
          <p:cNvSpPr/>
          <p:nvPr/>
        </p:nvSpPr>
        <p:spPr>
          <a:xfrm>
            <a:off x="411480" y="3538728"/>
            <a:ext cx="54864" cy="320040"/>
          </a:xfrm>
          <a:prstGeom prst="rect">
            <a:avLst/>
          </a:prstGeom>
          <a:solidFill>
            <a:srgbClr val="1A6B3A"/>
          </a:solidFill>
          <a:ln/>
        </p:spPr>
      </p:sp>
      <p:sp>
        <p:nvSpPr>
          <p:cNvPr id="67" name="Text 65"/>
          <p:cNvSpPr/>
          <p:nvPr/>
        </p:nvSpPr>
        <p:spPr>
          <a:xfrm>
            <a:off x="566928" y="3493008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MFCC:  F1 0.822 — хоёр ангиллыг тэнцвэртэй илрүүлнэ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>
            <a:off x="411480" y="3995928"/>
            <a:ext cx="54864" cy="320040"/>
          </a:xfrm>
          <a:prstGeom prst="rect">
            <a:avLst/>
          </a:prstGeom>
          <a:solidFill>
            <a:srgbClr val="2563A8"/>
          </a:solidFill>
          <a:ln/>
        </p:spPr>
      </p:sp>
      <p:sp>
        <p:nvSpPr>
          <p:cNvPr id="69" name="Text 67"/>
          <p:cNvSpPr/>
          <p:nvPr/>
        </p:nvSpPr>
        <p:spPr>
          <a:xfrm>
            <a:off x="566928" y="3950208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Mel-spec:  Recall 0.943 — хэвийн бус тохиолдлыг хамгийн сайн илрүүлнэ</a:t>
            </a:r>
            <a:endParaRPr lang="en-US" sz="1250" dirty="0"/>
          </a:p>
        </p:txBody>
      </p:sp>
      <p:sp>
        <p:nvSpPr>
          <p:cNvPr id="70" name="Shape 68"/>
          <p:cNvSpPr/>
          <p:nvPr/>
        </p:nvSpPr>
        <p:spPr>
          <a:xfrm>
            <a:off x="411480" y="4453128"/>
            <a:ext cx="54864" cy="320040"/>
          </a:xfrm>
          <a:prstGeom prst="rect">
            <a:avLst/>
          </a:prstGeom>
          <a:solidFill>
            <a:srgbClr val="B85C00"/>
          </a:solidFill>
          <a:ln/>
        </p:spPr>
      </p:sp>
      <p:sp>
        <p:nvSpPr>
          <p:cNvPr id="71" name="Text 69"/>
          <p:cNvSpPr/>
          <p:nvPr/>
        </p:nvSpPr>
        <p:spPr>
          <a:xfrm>
            <a:off x="566928" y="4407408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Spectrogram:  Precision 0.807 — хамгийн цөөн хуурамч дохио гаргасан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64592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Үр дүн 2 — Архитектуруудын харьцуулалт (Raw waveform)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95360" y="1645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713232"/>
            <a:ext cx="8321040" cy="0"/>
          </a:xfrm>
          <a:prstGeom prst="line">
            <a:avLst/>
          </a:prstGeom>
          <a:noFill/>
          <a:ln w="9525">
            <a:solidFill>
              <a:srgbClr val="D0D8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14400"/>
            <a:ext cx="1691640" cy="438912"/>
          </a:xfrm>
          <a:prstGeom prst="rect">
            <a:avLst/>
          </a:prstGeom>
          <a:solidFill>
            <a:srgbClr val="1A3A5C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14400"/>
            <a:ext cx="1600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Загвар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03120" y="914400"/>
            <a:ext cx="1097280" cy="438912"/>
          </a:xfrm>
          <a:prstGeom prst="rect">
            <a:avLst/>
          </a:prstGeom>
          <a:solidFill>
            <a:srgbClr val="1A3A5C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48840" y="914400"/>
            <a:ext cx="1005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914400"/>
            <a:ext cx="1097280" cy="438912"/>
          </a:xfrm>
          <a:prstGeom prst="rect">
            <a:avLst/>
          </a:prstGeom>
          <a:solidFill>
            <a:srgbClr val="1A3A5C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46120" y="914400"/>
            <a:ext cx="1005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7680" y="914400"/>
            <a:ext cx="1097280" cy="438912"/>
          </a:xfrm>
          <a:prstGeom prst="rect">
            <a:avLst/>
          </a:prstGeom>
          <a:solidFill>
            <a:srgbClr val="1A3A5C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43400" y="914400"/>
            <a:ext cx="1005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394960" y="914400"/>
            <a:ext cx="914400" cy="438912"/>
          </a:xfrm>
          <a:prstGeom prst="rect">
            <a:avLst/>
          </a:prstGeom>
          <a:solidFill>
            <a:srgbClr val="1A3A5C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40680" y="914400"/>
            <a:ext cx="822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914400"/>
            <a:ext cx="1143000" cy="438912"/>
          </a:xfrm>
          <a:prstGeom prst="rect">
            <a:avLst/>
          </a:prstGeom>
          <a:solidFill>
            <a:srgbClr val="1A3A5C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914400"/>
            <a:ext cx="1051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452360" y="914400"/>
            <a:ext cx="1280160" cy="438912"/>
          </a:xfrm>
          <a:prstGeom prst="rect">
            <a:avLst/>
          </a:prstGeom>
          <a:solidFill>
            <a:srgbClr val="1A3A5C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0" y="914400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11480" y="1353312"/>
            <a:ext cx="169164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1353312"/>
            <a:ext cx="16002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CNN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2103120" y="1353312"/>
            <a:ext cx="109728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48840" y="1353312"/>
            <a:ext cx="10058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0.858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200400" y="1353312"/>
            <a:ext cx="109728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46120" y="1353312"/>
            <a:ext cx="10058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0.608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297680" y="1353312"/>
            <a:ext cx="109728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43400" y="1353312"/>
            <a:ext cx="10058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0.870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394960" y="1353312"/>
            <a:ext cx="91440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40680" y="1353312"/>
            <a:ext cx="8229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0.716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1353312"/>
            <a:ext cx="114300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55080" y="1353312"/>
            <a:ext cx="10515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0.9576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7452360" y="1353312"/>
            <a:ext cx="128016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0" y="1353312"/>
            <a:ext cx="1188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0.870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11480" y="1883664"/>
            <a:ext cx="1691640" cy="493776"/>
          </a:xfrm>
          <a:prstGeom prst="rect">
            <a:avLst/>
          </a:prstGeom>
          <a:solidFill>
            <a:srgbClr val="F3F7FB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83664"/>
            <a:ext cx="16002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ResNet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2103120" y="1883664"/>
            <a:ext cx="1097280" cy="493776"/>
          </a:xfrm>
          <a:prstGeom prst="rect">
            <a:avLst/>
          </a:prstGeom>
          <a:solidFill>
            <a:srgbClr val="F3F7FB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48840" y="1883664"/>
            <a:ext cx="10058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0.887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3200400" y="1883664"/>
            <a:ext cx="1097280" cy="493776"/>
          </a:xfrm>
          <a:prstGeom prst="rect">
            <a:avLst/>
          </a:prstGeom>
          <a:solidFill>
            <a:srgbClr val="F3F7FB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46120" y="1883664"/>
            <a:ext cx="10058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0.662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4297680" y="1883664"/>
            <a:ext cx="1097280" cy="493776"/>
          </a:xfrm>
          <a:prstGeom prst="rect">
            <a:avLst/>
          </a:prstGeom>
          <a:solidFill>
            <a:srgbClr val="F3F7FB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43400" y="1883664"/>
            <a:ext cx="10058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0.920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5394960" y="1883664"/>
            <a:ext cx="914400" cy="493776"/>
          </a:xfrm>
          <a:prstGeom prst="rect">
            <a:avLst/>
          </a:prstGeom>
          <a:solidFill>
            <a:srgbClr val="F3F7FB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40680" y="1883664"/>
            <a:ext cx="8229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0.770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6309360" y="1883664"/>
            <a:ext cx="1143000" cy="493776"/>
          </a:xfrm>
          <a:prstGeom prst="rect">
            <a:avLst/>
          </a:prstGeom>
          <a:solidFill>
            <a:srgbClr val="F3F7FB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55080" y="1883664"/>
            <a:ext cx="10515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0.9709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7452360" y="1883664"/>
            <a:ext cx="1280160" cy="493776"/>
          </a:xfrm>
          <a:prstGeom prst="rect">
            <a:avLst/>
          </a:prstGeom>
          <a:solidFill>
            <a:srgbClr val="F3F7FB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98080" y="1883664"/>
            <a:ext cx="1188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0.920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411480" y="2414016"/>
            <a:ext cx="169164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2414016"/>
            <a:ext cx="16002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+ LSTM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2103120" y="2414016"/>
            <a:ext cx="109728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148840" y="2414016"/>
            <a:ext cx="10058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0.864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3200400" y="2414016"/>
            <a:ext cx="109728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46120" y="2414016"/>
            <a:ext cx="10058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0.623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4297680" y="2414016"/>
            <a:ext cx="109728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43400" y="2414016"/>
            <a:ext cx="10058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0.860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5394960" y="2414016"/>
            <a:ext cx="91440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40680" y="2414016"/>
            <a:ext cx="8229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0.723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6309360" y="2414016"/>
            <a:ext cx="114300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55080" y="2414016"/>
            <a:ext cx="10515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0.9491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452360" y="2414016"/>
            <a:ext cx="128016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498080" y="2414016"/>
            <a:ext cx="1188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0.860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411480" y="306324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харьцуулалт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411480" y="35204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CNN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1783080" y="3584448"/>
            <a:ext cx="3840480" cy="256032"/>
          </a:xfrm>
          <a:prstGeom prst="rect">
            <a:avLst/>
          </a:prstGeom>
          <a:solidFill>
            <a:srgbClr val="D0D8E0"/>
          </a:solidFill>
          <a:ln/>
        </p:spPr>
      </p:sp>
      <p:sp>
        <p:nvSpPr>
          <p:cNvPr id="65" name="Shape 63"/>
          <p:cNvSpPr/>
          <p:nvPr/>
        </p:nvSpPr>
        <p:spPr>
          <a:xfrm>
            <a:off x="1783080" y="3584448"/>
            <a:ext cx="1843430" cy="256032"/>
          </a:xfrm>
          <a:prstGeom prst="rect">
            <a:avLst/>
          </a:prstGeom>
          <a:solidFill>
            <a:srgbClr val="4A7FB5"/>
          </a:solidFill>
          <a:ln/>
        </p:spPr>
      </p:sp>
      <p:sp>
        <p:nvSpPr>
          <p:cNvPr id="66" name="Text 64"/>
          <p:cNvSpPr/>
          <p:nvPr/>
        </p:nvSpPr>
        <p:spPr>
          <a:xfrm>
            <a:off x="5687568" y="352044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0.9576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411480" y="3977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ResNet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1783080" y="4041648"/>
            <a:ext cx="3840480" cy="256032"/>
          </a:xfrm>
          <a:prstGeom prst="rect">
            <a:avLst/>
          </a:prstGeom>
          <a:solidFill>
            <a:srgbClr val="D0D8E0"/>
          </a:solidFill>
          <a:ln/>
        </p:spPr>
      </p:sp>
      <p:sp>
        <p:nvSpPr>
          <p:cNvPr id="69" name="Shape 67"/>
          <p:cNvSpPr/>
          <p:nvPr/>
        </p:nvSpPr>
        <p:spPr>
          <a:xfrm>
            <a:off x="1783080" y="4041648"/>
            <a:ext cx="2269084" cy="256032"/>
          </a:xfrm>
          <a:prstGeom prst="rect">
            <a:avLst/>
          </a:prstGeom>
          <a:solidFill>
            <a:srgbClr val="2563A8"/>
          </a:solidFill>
          <a:ln/>
        </p:spPr>
      </p:sp>
      <p:sp>
        <p:nvSpPr>
          <p:cNvPr id="70" name="Text 68"/>
          <p:cNvSpPr/>
          <p:nvPr/>
        </p:nvSpPr>
        <p:spPr>
          <a:xfrm>
            <a:off x="5687568" y="397764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56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0.9709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411480" y="44348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+ LSTM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1783080" y="4498848"/>
            <a:ext cx="3840480" cy="256032"/>
          </a:xfrm>
          <a:prstGeom prst="rect">
            <a:avLst/>
          </a:prstGeom>
          <a:solidFill>
            <a:srgbClr val="D0D8E0"/>
          </a:solidFill>
          <a:ln/>
        </p:spPr>
      </p:sp>
      <p:sp>
        <p:nvSpPr>
          <p:cNvPr id="73" name="Shape 71"/>
          <p:cNvSpPr/>
          <p:nvPr/>
        </p:nvSpPr>
        <p:spPr>
          <a:xfrm>
            <a:off x="1783080" y="4498848"/>
            <a:ext cx="1571396" cy="256032"/>
          </a:xfrm>
          <a:prstGeom prst="rect">
            <a:avLst/>
          </a:prstGeom>
          <a:solidFill>
            <a:srgbClr val="4A7FB5"/>
          </a:solidFill>
          <a:ln/>
        </p:spPr>
      </p:sp>
      <p:sp>
        <p:nvSpPr>
          <p:cNvPr id="74" name="Text 72"/>
          <p:cNvSpPr/>
          <p:nvPr/>
        </p:nvSpPr>
        <p:spPr>
          <a:xfrm>
            <a:off x="5687568" y="443484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0.9491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5486400" y="3017520"/>
            <a:ext cx="3246120" cy="2084832"/>
          </a:xfrm>
          <a:prstGeom prst="rect">
            <a:avLst/>
          </a:prstGeom>
          <a:solidFill>
            <a:srgbClr val="F3F7FB"/>
          </a:solidFill>
          <a:ln w="9525">
            <a:solidFill>
              <a:srgbClr val="D0D8E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623560" y="3127248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ResNet — давуу байсан шалтгаан</a:t>
            </a:r>
            <a:endParaRPr lang="en-US" sz="1250" dirty="0"/>
          </a:p>
        </p:txBody>
      </p:sp>
      <p:sp>
        <p:nvSpPr>
          <p:cNvPr id="77" name="Shape 75"/>
          <p:cNvSpPr/>
          <p:nvPr/>
        </p:nvSpPr>
        <p:spPr>
          <a:xfrm>
            <a:off x="5623560" y="3566160"/>
            <a:ext cx="2971800" cy="0"/>
          </a:xfrm>
          <a:prstGeom prst="line">
            <a:avLst/>
          </a:prstGeom>
          <a:noFill/>
          <a:ln w="6350">
            <a:solidFill>
              <a:srgbClr val="D0D8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623560" y="3767328"/>
            <a:ext cx="64008" cy="228600"/>
          </a:xfrm>
          <a:prstGeom prst="rect">
            <a:avLst/>
          </a:prstGeom>
          <a:solidFill>
            <a:srgbClr val="2563A8"/>
          </a:solidFill>
          <a:ln/>
        </p:spPr>
      </p:sp>
      <p:sp>
        <p:nvSpPr>
          <p:cNvPr id="79" name="Text 77"/>
          <p:cNvSpPr/>
          <p:nvPr/>
        </p:nvSpPr>
        <p:spPr>
          <a:xfrm>
            <a:off x="5779008" y="367588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холболт: gradient vanishing ↓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5623560" y="4206240"/>
            <a:ext cx="64008" cy="228600"/>
          </a:xfrm>
          <a:prstGeom prst="rect">
            <a:avLst/>
          </a:prstGeom>
          <a:solidFill>
            <a:srgbClr val="2563A8"/>
          </a:solidFill>
          <a:ln/>
        </p:spPr>
      </p:sp>
      <p:sp>
        <p:nvSpPr>
          <p:cNvPr id="81" name="Text 79"/>
          <p:cNvSpPr/>
          <p:nvPr/>
        </p:nvSpPr>
        <p:spPr>
          <a:xfrm>
            <a:off x="5779008" y="411480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 өгөгдөлд үр дүнтэй сурна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5623560" y="4645152"/>
            <a:ext cx="64008" cy="228600"/>
          </a:xfrm>
          <a:prstGeom prst="rect">
            <a:avLst/>
          </a:prstGeom>
          <a:solidFill>
            <a:srgbClr val="2563A8"/>
          </a:solidFill>
          <a:ln/>
        </p:spPr>
      </p:sp>
      <p:sp>
        <p:nvSpPr>
          <p:cNvPr id="83" name="Text 81"/>
          <p:cNvSpPr/>
          <p:nvPr/>
        </p:nvSpPr>
        <p:spPr>
          <a:xfrm>
            <a:off x="5779008" y="455371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Бүх үзүүлэлтэд тэргүүлсэн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64592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Өмнөх судалгаатай харьцуулалт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95360" y="1645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713232"/>
            <a:ext cx="8321040" cy="0"/>
          </a:xfrm>
          <a:prstGeom prst="line">
            <a:avLst/>
          </a:prstGeom>
          <a:noFill/>
          <a:ln w="9525">
            <a:solidFill>
              <a:srgbClr val="D0D8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914400"/>
            <a:ext cx="0" cy="2514600"/>
          </a:xfrm>
          <a:prstGeom prst="line">
            <a:avLst/>
          </a:prstGeom>
          <a:noFill/>
          <a:ln w="9525">
            <a:solidFill>
              <a:srgbClr val="D0D8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4160520"/>
            <a:ext cx="8046720" cy="0"/>
          </a:xfrm>
          <a:prstGeom prst="line">
            <a:avLst/>
          </a:prstGeom>
          <a:noFill/>
          <a:ln w="9525">
            <a:solidFill>
              <a:srgbClr val="D0D8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4160520"/>
            <a:ext cx="8046720" cy="0"/>
          </a:xfrm>
          <a:prstGeom prst="line">
            <a:avLst/>
          </a:prstGeom>
          <a:noFill/>
          <a:ln w="6350">
            <a:solidFill>
              <a:srgbClr val="D0D8E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91440" y="3995928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3510280"/>
            <a:ext cx="8046720" cy="0"/>
          </a:xfrm>
          <a:prstGeom prst="line">
            <a:avLst/>
          </a:prstGeom>
          <a:noFill/>
          <a:ln w="6350">
            <a:solidFill>
              <a:srgbClr val="D0D8E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91440" y="3345688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860040"/>
            <a:ext cx="8046720" cy="0"/>
          </a:xfrm>
          <a:prstGeom prst="line">
            <a:avLst/>
          </a:prstGeom>
          <a:noFill/>
          <a:ln w="6350">
            <a:solidFill>
              <a:srgbClr val="D0D8E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91440" y="2695448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2209800"/>
            <a:ext cx="8046720" cy="0"/>
          </a:xfrm>
          <a:prstGeom prst="line">
            <a:avLst/>
          </a:prstGeom>
          <a:noFill/>
          <a:ln w="6350">
            <a:solidFill>
              <a:srgbClr val="D0D8E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" y="2045208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1559560"/>
            <a:ext cx="8046720" cy="0"/>
          </a:xfrm>
          <a:prstGeom prst="line">
            <a:avLst/>
          </a:prstGeom>
          <a:noFill/>
          <a:ln w="6350">
            <a:solidFill>
              <a:srgbClr val="D0D8E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91440" y="1394968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5800" y="2681224"/>
            <a:ext cx="1005840" cy="1479296"/>
          </a:xfrm>
          <a:prstGeom prst="rect">
            <a:avLst/>
          </a:prstGeom>
          <a:solidFill>
            <a:srgbClr val="2563A8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2315464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56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91.1%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" y="4206240"/>
            <a:ext cx="1005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Энэ судалгаа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+ MFCC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029968" y="3071368"/>
            <a:ext cx="1005840" cy="1089152"/>
          </a:xfrm>
          <a:prstGeom prst="rect">
            <a:avLst/>
          </a:prstGeom>
          <a:solidFill>
            <a:srgbClr val="2563A8"/>
          </a:solidFill>
          <a:ln/>
        </p:spPr>
      </p:sp>
      <p:sp>
        <p:nvSpPr>
          <p:cNvPr id="22" name="Text 20"/>
          <p:cNvSpPr/>
          <p:nvPr/>
        </p:nvSpPr>
        <p:spPr>
          <a:xfrm>
            <a:off x="2029968" y="2705608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56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88.7%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029968" y="4206240"/>
            <a:ext cx="1005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Энэ судалгаа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ResNet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74136" y="3412744"/>
            <a:ext cx="1005840" cy="747776"/>
          </a:xfrm>
          <a:prstGeom prst="rect">
            <a:avLst/>
          </a:prstGeom>
          <a:solidFill>
            <a:srgbClr val="D0D8E0"/>
          </a:solidFill>
          <a:ln/>
        </p:spPr>
      </p:sp>
      <p:sp>
        <p:nvSpPr>
          <p:cNvPr id="25" name="Text 23"/>
          <p:cNvSpPr/>
          <p:nvPr/>
        </p:nvSpPr>
        <p:spPr>
          <a:xfrm>
            <a:off x="3374136" y="3046984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86.6%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74136" y="4206240"/>
            <a:ext cx="1005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CinC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18304" y="2144776"/>
            <a:ext cx="1005840" cy="2015744"/>
          </a:xfrm>
          <a:prstGeom prst="rect">
            <a:avLst/>
          </a:prstGeom>
          <a:solidFill>
            <a:srgbClr val="D0D8E0"/>
          </a:solidFill>
          <a:ln/>
        </p:spPr>
      </p:sp>
      <p:sp>
        <p:nvSpPr>
          <p:cNvPr id="28" name="Text 26"/>
          <p:cNvSpPr/>
          <p:nvPr/>
        </p:nvSpPr>
        <p:spPr>
          <a:xfrm>
            <a:off x="4718304" y="1779016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94.4%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718304" y="4206240"/>
            <a:ext cx="1005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нар 2022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2472" y="1949704"/>
            <a:ext cx="1005840" cy="2210816"/>
          </a:xfrm>
          <a:prstGeom prst="rect">
            <a:avLst/>
          </a:prstGeom>
          <a:solidFill>
            <a:srgbClr val="D0D8E0"/>
          </a:solidFill>
          <a:ln/>
        </p:spPr>
      </p:sp>
      <p:sp>
        <p:nvSpPr>
          <p:cNvPr id="31" name="Text 29"/>
          <p:cNvSpPr/>
          <p:nvPr/>
        </p:nvSpPr>
        <p:spPr>
          <a:xfrm>
            <a:off x="6062472" y="1583944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95.6%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062472" y="4206240"/>
            <a:ext cx="1005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CBAM CNN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406640" y="1770888"/>
            <a:ext cx="1005840" cy="2389632"/>
          </a:xfrm>
          <a:prstGeom prst="rect">
            <a:avLst/>
          </a:prstGeom>
          <a:solidFill>
            <a:srgbClr val="D0D8E0"/>
          </a:solidFill>
          <a:ln/>
        </p:spPr>
      </p:sp>
      <p:sp>
        <p:nvSpPr>
          <p:cNvPr id="34" name="Text 32"/>
          <p:cNvSpPr/>
          <p:nvPr/>
        </p:nvSpPr>
        <p:spPr>
          <a:xfrm>
            <a:off x="7406640" y="1405128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96.7%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406640" y="4206240"/>
            <a:ext cx="1005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CNN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4773168"/>
            <a:ext cx="8321040" cy="347472"/>
          </a:xfrm>
          <a:prstGeom prst="rect">
            <a:avLst/>
          </a:prstGeom>
          <a:solidFill>
            <a:srgbClr val="F3F7FB"/>
          </a:solidFill>
          <a:ln w="9525">
            <a:solidFill>
              <a:srgbClr val="D0D8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4809744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Туршилтын нөхцөл, өгөгдлийн хуваарилалт ялгаатай тул шууд харьцуулалт хязгаарлагдмал.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64592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Дүгнэлт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95360" y="1645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713232"/>
            <a:ext cx="8321040" cy="0"/>
          </a:xfrm>
          <a:prstGeom prst="line">
            <a:avLst/>
          </a:prstGeom>
          <a:noFill/>
          <a:ln w="9525">
            <a:solidFill>
              <a:srgbClr val="D0D8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14400"/>
            <a:ext cx="4206240" cy="193852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914400"/>
            <a:ext cx="4206240" cy="54864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8" name="Shape 6"/>
          <p:cNvSpPr/>
          <p:nvPr/>
        </p:nvSpPr>
        <p:spPr>
          <a:xfrm>
            <a:off x="576072" y="1078992"/>
            <a:ext cx="420624" cy="420624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9" name="Text 7"/>
          <p:cNvSpPr/>
          <p:nvPr/>
        </p:nvSpPr>
        <p:spPr>
          <a:xfrm>
            <a:off x="576072" y="10789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109728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Хамгийн сайн дүрслэл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76072" y="1572768"/>
            <a:ext cx="3886200" cy="0"/>
          </a:xfrm>
          <a:prstGeom prst="line">
            <a:avLst/>
          </a:prstGeom>
          <a:noFill/>
          <a:ln w="6350">
            <a:solidFill>
              <a:srgbClr val="D0D8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" y="1664208"/>
            <a:ext cx="391363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MFCC — F1 0.822 (хамгийн тэнцвэртэй)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Mel-spectrogram — Recall 0.943 (хэвийн бус илрүүлэлтэд)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18888" y="914400"/>
            <a:ext cx="4206240" cy="193852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8888" y="914400"/>
            <a:ext cx="4206240" cy="54864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15" name="Shape 13"/>
          <p:cNvSpPr/>
          <p:nvPr/>
        </p:nvSpPr>
        <p:spPr>
          <a:xfrm>
            <a:off x="4983480" y="1078992"/>
            <a:ext cx="420624" cy="420624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10789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04688" y="109728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Хамгийн сайн архитектур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983480" y="1572768"/>
            <a:ext cx="3886200" cy="0"/>
          </a:xfrm>
          <a:prstGeom prst="line">
            <a:avLst/>
          </a:prstGeom>
          <a:noFill/>
          <a:ln w="6350">
            <a:solidFill>
              <a:srgbClr val="D0D8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83480" y="1664208"/>
            <a:ext cx="391363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ResNet — Accuracy 88.68%, AUC-ROC 0.9709, Sensitivity 92.0%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холболт нь бага өгөгдөлд ч үр дүнтэй сурдаг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11480" y="2999232"/>
            <a:ext cx="4206240" cy="193852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99232"/>
            <a:ext cx="4206240" cy="54864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2" name="Shape 20"/>
          <p:cNvSpPr/>
          <p:nvPr/>
        </p:nvSpPr>
        <p:spPr>
          <a:xfrm>
            <a:off x="576072" y="3163824"/>
            <a:ext cx="420624" cy="420624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3" name="Text 21"/>
          <p:cNvSpPr/>
          <p:nvPr/>
        </p:nvSpPr>
        <p:spPr>
          <a:xfrm>
            <a:off x="576072" y="316382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97280" y="3182112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Судалгааны хувь нэмэр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76072" y="3657600"/>
            <a:ext cx="3886200" cy="0"/>
          </a:xfrm>
          <a:prstGeom prst="line">
            <a:avLst/>
          </a:prstGeom>
          <a:noFill/>
          <a:ln w="6350">
            <a:solidFill>
              <a:srgbClr val="D0D8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072" y="3749040"/>
            <a:ext cx="391363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дүрслэл × 4 архитектурыг нэг ижил нөхцөлд харьцуулан үнэлсэн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Урьдчилсан боловсруулалт болон нормчлолын чанар чухал гэдгийг бататгасан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818888" y="2999232"/>
            <a:ext cx="4206240" cy="193852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18888" y="2999232"/>
            <a:ext cx="4206240" cy="54864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9" name="Shape 27"/>
          <p:cNvSpPr/>
          <p:nvPr/>
        </p:nvSpPr>
        <p:spPr>
          <a:xfrm>
            <a:off x="4983480" y="3163824"/>
            <a:ext cx="420624" cy="420624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0" name="Text 28"/>
          <p:cNvSpPr/>
          <p:nvPr/>
        </p:nvSpPr>
        <p:spPr>
          <a:xfrm>
            <a:off x="4983480" y="316382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3182112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Цаашдын чиглэл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983480" y="3657600"/>
            <a:ext cx="3886200" cy="0"/>
          </a:xfrm>
          <a:prstGeom prst="line">
            <a:avLst/>
          </a:prstGeom>
          <a:noFill/>
          <a:ln w="6350">
            <a:solidFill>
              <a:srgbClr val="D0D8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83480" y="3749040"/>
            <a:ext cx="391363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механизм, data augmentation нэмэх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Murmur дэд төрлүүдийг нарийвчлан ангилах, бодит орчинд туршина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88391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mn-MN" sz="1500" i="1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Анхаарал хандуулсанд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85480" y="2316991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Баярлалаа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3228680" y="3334261"/>
            <a:ext cx="2743200" cy="0"/>
          </a:xfrm>
          <a:prstGeom prst="line">
            <a:avLst/>
          </a:prstGeom>
          <a:noFill/>
          <a:ln w="12700">
            <a:solidFill>
              <a:srgbClr val="D0D8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4975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A3A5C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</TotalTime>
  <Words>1371</Words>
  <Application>Microsoft Office PowerPoint</Application>
  <PresentationFormat>On-screen Show (16:9)</PresentationFormat>
  <Paragraphs>281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KHISHIGJARGAL Gantulga</cp:lastModifiedBy>
  <cp:revision>4</cp:revision>
  <dcterms:created xsi:type="dcterms:W3CDTF">2026-04-05T12:47:10Z</dcterms:created>
  <dcterms:modified xsi:type="dcterms:W3CDTF">2026-04-20T05:46:57Z</dcterms:modified>
</cp:coreProperties>
</file>
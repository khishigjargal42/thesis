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185" autoAdjust="0"/>
  </p:normalViewPr>
  <p:slideViewPr>
    <p:cSldViewPr snapToGrid="0" snapToObjects="1">
      <p:cViewPr varScale="1">
        <p:scale>
          <a:sx n="106" d="100"/>
          <a:sy n="106" d="100"/>
        </p:scale>
        <p:origin x="7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0238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Зүрхний өвчин нь дэлхий нийтийн тэргүүлэх нас баралтын шалтгааны нэг бөгөөд </a:t>
            </a:r>
            <a:r>
              <a:rPr lang="mn-MN" b="1" dirty="0"/>
              <a:t>эрт илрүүлэлт</a:t>
            </a:r>
            <a:r>
              <a:rPr lang="mn-MN" dirty="0"/>
              <a:t> нь эмчилгээний үр дүнд шийдвэрлэх нөлөөтэй.</a:t>
            </a:r>
          </a:p>
          <a:p>
            <a:r>
              <a:rPr lang="mn-MN" dirty="0"/>
              <a:t>Уламжлалт аргаар эмч сонсгол ашиглан дүгнэлт гаргадаг — энэ нь субьектив бөгөөд мэргэшлийн ялгаанаас хамаардаг. </a:t>
            </a:r>
            <a:r>
              <a:rPr lang="mn-MN" b="1" dirty="0"/>
              <a:t>Автомат илрүүлэх систем</a:t>
            </a:r>
            <a:r>
              <a:rPr lang="mn-MN" dirty="0"/>
              <a:t> эдгээр хязгаарлалтыг давж гарах боломжтой.</a:t>
            </a:r>
          </a:p>
          <a:p>
            <a:r>
              <a:rPr lang="mn-MN" dirty="0"/>
              <a:t>Энэхүү судалгааны </a:t>
            </a:r>
            <a:r>
              <a:rPr lang="mn-MN" b="1" dirty="0"/>
              <a:t>гурван үндсэн зорилго</a:t>
            </a:r>
            <a:r>
              <a:rPr lang="mn-MN" dirty="0"/>
              <a:t> байна:</a:t>
            </a:r>
          </a:p>
          <a:p>
            <a:r>
              <a:rPr lang="mn-MN" dirty="0"/>
              <a:t>Нэгдүгээрт, дөрвөн оролтын дүрслэлийг нэг нөхцөлд харьцуулах</a:t>
            </a:r>
          </a:p>
          <a:p>
            <a:r>
              <a:rPr lang="mn-MN" dirty="0"/>
              <a:t>Хоёрдугаарт, дөрвөн </a:t>
            </a:r>
            <a:r>
              <a:rPr lang="en-US" dirty="0"/>
              <a:t>CNN </a:t>
            </a:r>
            <a:r>
              <a:rPr lang="mn-MN" dirty="0"/>
              <a:t>архитектурыг туршиж шалгах</a:t>
            </a:r>
          </a:p>
          <a:p>
            <a:r>
              <a:rPr lang="mn-MN" dirty="0"/>
              <a:t>Гуравдугаарт, хамгийн тохиромжтой хослолыг тодорхойлох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Судалгаанд </a:t>
            </a:r>
            <a:r>
              <a:rPr lang="en-US" b="1" dirty="0"/>
              <a:t>PhysioNet/</a:t>
            </a:r>
            <a:r>
              <a:rPr lang="en-US" b="1" dirty="0" err="1"/>
              <a:t>CinC</a:t>
            </a:r>
            <a:r>
              <a:rPr lang="en-US" b="1" dirty="0"/>
              <a:t> 2016</a:t>
            </a:r>
            <a:r>
              <a:rPr lang="en-US" dirty="0"/>
              <a:t> </a:t>
            </a:r>
            <a:r>
              <a:rPr lang="mn-MN" dirty="0"/>
              <a:t>зүрхний авианы нээлттэй өгөгдлийн санг ашигласан. Энэ нь салбартаа өргөн хэрэглэгддэг стандарт өгөгдлийн сан юм.</a:t>
            </a:r>
          </a:p>
          <a:p>
            <a:r>
              <a:rPr lang="mn-MN" dirty="0"/>
              <a:t>Нийт </a:t>
            </a:r>
            <a:r>
              <a:rPr lang="mn-MN" b="1" dirty="0"/>
              <a:t>3,240 бичлэг</a:t>
            </a:r>
            <a:r>
              <a:rPr lang="mn-MN" dirty="0"/>
              <a:t>, бүгд 2,000 </a:t>
            </a:r>
            <a:r>
              <a:rPr lang="en-US" dirty="0"/>
              <a:t>Hz </a:t>
            </a:r>
            <a:r>
              <a:rPr lang="mn-MN" dirty="0"/>
              <a:t>давтамжтай. Бичлэгийн урт 5 секундаас 122 секунд хүртэл хэлбэлздэг.</a:t>
            </a:r>
          </a:p>
          <a:p>
            <a:r>
              <a:rPr lang="mn-MN" dirty="0"/>
              <a:t>Нэг чухал онцлог нь — ангиллын тархалт </a:t>
            </a:r>
            <a:r>
              <a:rPr lang="mn-MN" b="1" dirty="0"/>
              <a:t>тэнцвэргүй</a:t>
            </a:r>
            <a:r>
              <a:rPr lang="mn-MN" dirty="0"/>
              <a:t>: хэвийн бичлэг 20.5%, хэвийн бус 79.5%. Энэ нь загвар сургалтад нэмэлт анхаарал шаардсан тул </a:t>
            </a:r>
            <a:r>
              <a:rPr lang="en-US" b="1" dirty="0"/>
              <a:t>class weight </a:t>
            </a:r>
            <a:r>
              <a:rPr lang="mn-MN" b="1" dirty="0"/>
              <a:t>тохируулга</a:t>
            </a:r>
            <a:r>
              <a:rPr lang="mn-MN" dirty="0"/>
              <a:t> ашигласан.</a:t>
            </a:r>
          </a:p>
          <a:p>
            <a:r>
              <a:rPr lang="mn-MN" dirty="0"/>
              <a:t>Бичлэгүүдийг 3 секундын давхцалтай сегментэд хуваан, нийт </a:t>
            </a:r>
            <a:r>
              <a:rPr lang="mn-MN" b="1" dirty="0"/>
              <a:t>68,097 сегмент</a:t>
            </a:r>
            <a:r>
              <a:rPr lang="mn-MN" dirty="0"/>
              <a:t> бэлтгэсэн.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Зүрхний авианы дохиог шууд загварт оруулахын оронд </a:t>
            </a:r>
            <a:r>
              <a:rPr lang="mn-MN" b="1" dirty="0"/>
              <a:t>дөрвөн төрлийн цаг-давтамжийн дүрслэл</a:t>
            </a:r>
            <a:r>
              <a:rPr lang="mn-MN" dirty="0"/>
              <a:t> болгон хувиргасан:</a:t>
            </a:r>
          </a:p>
          <a:p>
            <a:r>
              <a:rPr lang="en-US" b="1" dirty="0"/>
              <a:t>Spectrogram</a:t>
            </a:r>
            <a:r>
              <a:rPr lang="en-US" dirty="0"/>
              <a:t> — </a:t>
            </a:r>
            <a:r>
              <a:rPr lang="mn-MN" dirty="0"/>
              <a:t>хамгийн үндсэн дүрслэл, </a:t>
            </a:r>
            <a:r>
              <a:rPr lang="en-US" dirty="0"/>
              <a:t>STFT-</a:t>
            </a:r>
            <a:r>
              <a:rPr lang="mn-MN" dirty="0"/>
              <a:t>д суурилсан, шугаман давтамжийн тэнхлэгтэй.</a:t>
            </a:r>
          </a:p>
          <a:p>
            <a:r>
              <a:rPr lang="en-US" b="1" dirty="0"/>
              <a:t>Mel-spectrogram</a:t>
            </a:r>
            <a:r>
              <a:rPr lang="en-US" dirty="0"/>
              <a:t> — </a:t>
            </a:r>
            <a:r>
              <a:rPr lang="mn-MN" dirty="0"/>
              <a:t>хүний сонсголын онцлогт ойр </a:t>
            </a:r>
            <a:r>
              <a:rPr lang="en-US" dirty="0"/>
              <a:t>Mel </a:t>
            </a:r>
            <a:r>
              <a:rPr lang="mn-MN" dirty="0"/>
              <a:t>хуваарьт шилжүүлсэн, бага давтамжийн мужийг нарийвчлан харуулдаг.</a:t>
            </a:r>
          </a:p>
          <a:p>
            <a:r>
              <a:rPr lang="en-US" b="1" dirty="0"/>
              <a:t>Log-Mel</a:t>
            </a:r>
            <a:r>
              <a:rPr lang="en-US" dirty="0"/>
              <a:t> — Mel-spectrogram-</a:t>
            </a:r>
            <a:r>
              <a:rPr lang="mn-MN" dirty="0"/>
              <a:t>ийн логарифм хувилбар, динамик мужийг тэнцвэржүүлдэг.</a:t>
            </a:r>
          </a:p>
          <a:p>
            <a:r>
              <a:rPr lang="en-US" b="1" dirty="0"/>
              <a:t>MFCC</a:t>
            </a:r>
            <a:r>
              <a:rPr lang="en-US" dirty="0"/>
              <a:t> — </a:t>
            </a:r>
            <a:r>
              <a:rPr lang="mn-MN" dirty="0"/>
              <a:t>спектрийн хэлбэрийг цөөн тооны коэффициентээр нягтруулан илэрхийлдэг, ярианы боловсруулалтад өргөн хэрэглэгддэг.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Дөрвөн </a:t>
            </a:r>
            <a:r>
              <a:rPr lang="en-US" dirty="0"/>
              <a:t>CNN </a:t>
            </a:r>
            <a:r>
              <a:rPr lang="mn-MN" dirty="0"/>
              <a:t>архитектур туршсан:</a:t>
            </a:r>
          </a:p>
          <a:p>
            <a:r>
              <a:rPr lang="en-US" b="1" dirty="0"/>
              <a:t>Baseline CNN</a:t>
            </a:r>
            <a:r>
              <a:rPr lang="en-US" dirty="0"/>
              <a:t> — </a:t>
            </a:r>
            <a:r>
              <a:rPr lang="mn-MN" dirty="0"/>
              <a:t>харьцангуй энгийн бүтэц. 2</a:t>
            </a:r>
            <a:r>
              <a:rPr lang="en-US" dirty="0"/>
              <a:t>D convolution </a:t>
            </a:r>
            <a:r>
              <a:rPr lang="mn-MN" dirty="0"/>
              <a:t>давхаргуудаар дүрслэлээс локал хэв маяг суралцана. Суурь жишиг загвар болгон ашигласан.</a:t>
            </a:r>
          </a:p>
          <a:p>
            <a:r>
              <a:rPr lang="mn-MN" b="1" dirty="0"/>
              <a:t>1</a:t>
            </a:r>
            <a:r>
              <a:rPr lang="en-US" b="1" dirty="0"/>
              <a:t>D CNN</a:t>
            </a:r>
            <a:r>
              <a:rPr lang="en-US" dirty="0"/>
              <a:t> — raw waveform </a:t>
            </a:r>
            <a:r>
              <a:rPr lang="mn-MN" dirty="0"/>
              <a:t>дохио дээр шууд ажилладаг. Дөрвөн </a:t>
            </a:r>
            <a:r>
              <a:rPr lang="en-US" dirty="0"/>
              <a:t>Conv1d </a:t>
            </a:r>
            <a:r>
              <a:rPr lang="mn-MN" dirty="0"/>
              <a:t>блок, </a:t>
            </a:r>
            <a:r>
              <a:rPr lang="en-US" dirty="0" err="1"/>
              <a:t>BatchNorm</a:t>
            </a:r>
            <a:r>
              <a:rPr lang="en-US" dirty="0"/>
              <a:t>, Dropout </a:t>
            </a:r>
            <a:r>
              <a:rPr lang="mn-MN" dirty="0"/>
              <a:t>ашиглан хэт суралцахаас сэргийлсэн.</a:t>
            </a:r>
          </a:p>
          <a:p>
            <a:r>
              <a:rPr lang="mn-MN" b="1" dirty="0"/>
              <a:t>1</a:t>
            </a:r>
            <a:r>
              <a:rPr lang="en-US" b="1" dirty="0"/>
              <a:t>D </a:t>
            </a:r>
            <a:r>
              <a:rPr lang="en-US" b="1" dirty="0" err="1"/>
              <a:t>ResNet</a:t>
            </a:r>
            <a:r>
              <a:rPr lang="en-US" dirty="0"/>
              <a:t> — </a:t>
            </a:r>
            <a:r>
              <a:rPr lang="mn-MN" dirty="0"/>
              <a:t>энэ бол манай судалгааны гол архитектур. </a:t>
            </a:r>
            <a:r>
              <a:rPr lang="en-US" b="1" dirty="0"/>
              <a:t>Residual </a:t>
            </a:r>
            <a:r>
              <a:rPr lang="mn-MN" b="1" dirty="0"/>
              <a:t>холболт</a:t>
            </a:r>
            <a:r>
              <a:rPr lang="mn-MN" dirty="0"/>
              <a:t> нь тухайн блокийн оролтыг гаралттай шууд нэмж, </a:t>
            </a:r>
            <a:r>
              <a:rPr lang="en-US" dirty="0"/>
              <a:t>gradient vanishing </a:t>
            </a:r>
            <a:r>
              <a:rPr lang="mn-MN" dirty="0"/>
              <a:t>асуудлыг бууруулдаг. </a:t>
            </a:r>
            <a:r>
              <a:rPr lang="en-US" dirty="0"/>
              <a:t>Stem </a:t>
            </a:r>
            <a:r>
              <a:rPr lang="mn-MN" dirty="0"/>
              <a:t>давхарга болон дөрвөн </a:t>
            </a:r>
            <a:r>
              <a:rPr lang="en-US" dirty="0" err="1"/>
              <a:t>ResBlock</a:t>
            </a:r>
            <a:r>
              <a:rPr lang="en-US" dirty="0"/>
              <a:t>-</a:t>
            </a:r>
            <a:r>
              <a:rPr lang="mn-MN" dirty="0"/>
              <a:t>оос тогтоно.</a:t>
            </a:r>
          </a:p>
          <a:p>
            <a:r>
              <a:rPr lang="en-US" b="1" dirty="0"/>
              <a:t>CNN+LSTM</a:t>
            </a:r>
            <a:r>
              <a:rPr lang="en-US" dirty="0"/>
              <a:t> — CNN front-end </a:t>
            </a:r>
            <a:r>
              <a:rPr lang="mn-MN" dirty="0"/>
              <a:t>нь локал онцлог ялгаруулж, </a:t>
            </a:r>
            <a:r>
              <a:rPr lang="en-US" dirty="0"/>
              <a:t>bidirectional LSTM </a:t>
            </a:r>
            <a:r>
              <a:rPr lang="mn-MN" dirty="0"/>
              <a:t>нь хугацааны хамаарлыг суралцана. </a:t>
            </a:r>
            <a:r>
              <a:rPr lang="en-US" dirty="0"/>
              <a:t>S1 </a:t>
            </a:r>
            <a:r>
              <a:rPr lang="mn-MN" dirty="0"/>
              <a:t>авианаас диастол, </a:t>
            </a:r>
            <a:r>
              <a:rPr lang="en-US" dirty="0"/>
              <a:t>S2 </a:t>
            </a:r>
            <a:r>
              <a:rPr lang="mn-MN" dirty="0"/>
              <a:t>хүртэлх дарааллыг хоёр чиглэлд суралцах боломжтой.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Эхлээд </a:t>
            </a:r>
            <a:r>
              <a:rPr lang="en-US" dirty="0"/>
              <a:t>Baseline CNN </a:t>
            </a:r>
            <a:r>
              <a:rPr lang="mn-MN" dirty="0"/>
              <a:t>загварт дөрвөн дүрслэлийг тус тус туршсан үр дүнг харцгаая.</a:t>
            </a:r>
          </a:p>
          <a:p>
            <a:r>
              <a:rPr lang="en-US" b="1" dirty="0"/>
              <a:t>MFCC</a:t>
            </a:r>
            <a:r>
              <a:rPr lang="en-US" dirty="0"/>
              <a:t> </a:t>
            </a:r>
            <a:r>
              <a:rPr lang="mn-MN" dirty="0"/>
              <a:t>нь </a:t>
            </a:r>
            <a:r>
              <a:rPr lang="en-US" dirty="0"/>
              <a:t>F1-score 0.822-</a:t>
            </a:r>
            <a:r>
              <a:rPr lang="mn-MN" dirty="0"/>
              <a:t>оор хамгийн тэнцвэртэй гүйцэтгэл үзүүлсэн — энэ нь хэвийн болон хэвийн бус ангилал хоёуланг адил сайн илрүүлж байна гэсэн үг.</a:t>
            </a:r>
          </a:p>
          <a:p>
            <a:r>
              <a:rPr lang="en-US" b="1" dirty="0"/>
              <a:t>Mel-spectrogram</a:t>
            </a:r>
            <a:r>
              <a:rPr lang="en-US" dirty="0"/>
              <a:t> </a:t>
            </a:r>
            <a:r>
              <a:rPr lang="mn-MN" dirty="0"/>
              <a:t>нь </a:t>
            </a:r>
            <a:r>
              <a:rPr lang="en-US" dirty="0"/>
              <a:t>recall 0.943-</a:t>
            </a:r>
            <a:r>
              <a:rPr lang="mn-MN" dirty="0"/>
              <a:t>аар хамгийн өндөр үнэ цэнэ үзүүлсэн. Эмнэлгийн хэрэглээнд </a:t>
            </a:r>
            <a:r>
              <a:rPr lang="mn-MN" b="1" dirty="0"/>
              <a:t>хэвийн бус тохиолдлыг алдалгүй илрүүлэх</a:t>
            </a:r>
            <a:r>
              <a:rPr lang="mn-MN" dirty="0"/>
              <a:t> нь эн тэргүүнд тавигддаг тул энэ үзүүлэлт онцгой ач холбогдолтой.</a:t>
            </a:r>
          </a:p>
          <a:p>
            <a:r>
              <a:rPr lang="en-US" b="1" dirty="0"/>
              <a:t>Spectrogram</a:t>
            </a:r>
            <a:r>
              <a:rPr lang="en-US" dirty="0"/>
              <a:t> </a:t>
            </a:r>
            <a:r>
              <a:rPr lang="mn-MN" dirty="0"/>
              <a:t>нь хамгийн өндөр </a:t>
            </a:r>
            <a:r>
              <a:rPr lang="en-US" dirty="0"/>
              <a:t>precision 0.807 — </a:t>
            </a:r>
            <a:r>
              <a:rPr lang="mn-MN" dirty="0"/>
              <a:t>буюу хамгийн цөөн хуурамч дохио гаргасан.</a:t>
            </a:r>
          </a:p>
          <a:p>
            <a:r>
              <a:rPr lang="mn-MN" dirty="0"/>
              <a:t>Дүгнэж хэлэхэд: </a:t>
            </a:r>
            <a:r>
              <a:rPr lang="mn-MN" b="1" dirty="0"/>
              <a:t>хэрэглэх зорилгоос хамаараад</a:t>
            </a:r>
            <a:r>
              <a:rPr lang="mn-MN" dirty="0"/>
              <a:t> дүрслэлийн сонголт өөр байна. Тэнцвэртэй гүйцэтгэл хэрэгтэй бол </a:t>
            </a:r>
            <a:r>
              <a:rPr lang="en-US" dirty="0"/>
              <a:t>MFCC, </a:t>
            </a:r>
            <a:r>
              <a:rPr lang="mn-MN" dirty="0"/>
              <a:t>максимум мэдрэмж хэрэгтэй бол </a:t>
            </a:r>
            <a:r>
              <a:rPr lang="en-US" dirty="0"/>
              <a:t>Mel-spectrogram </a:t>
            </a:r>
            <a:r>
              <a:rPr lang="mn-MN" dirty="0"/>
              <a:t>илүү тохиромжтой.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waveform </a:t>
            </a:r>
            <a:r>
              <a:rPr lang="mn-MN" dirty="0"/>
              <a:t>оролттой гурван архитектурыг харьцуулсан үр дүн.</a:t>
            </a:r>
          </a:p>
          <a:p>
            <a:r>
              <a:rPr lang="mn-MN" b="1" dirty="0"/>
              <a:t>1</a:t>
            </a:r>
            <a:r>
              <a:rPr lang="en-US" b="1" dirty="0"/>
              <a:t>D </a:t>
            </a:r>
            <a:r>
              <a:rPr lang="en-US" b="1" dirty="0" err="1"/>
              <a:t>ResNet</a:t>
            </a:r>
            <a:r>
              <a:rPr lang="en-US" dirty="0"/>
              <a:t> </a:t>
            </a:r>
            <a:r>
              <a:rPr lang="mn-MN" dirty="0"/>
              <a:t>нь бүх үзүүлэлтэд тэргүүлсэн:</a:t>
            </a:r>
          </a:p>
          <a:p>
            <a:r>
              <a:rPr lang="en-US" dirty="0"/>
              <a:t>Accuracy: </a:t>
            </a:r>
            <a:r>
              <a:rPr lang="en-US" b="1" dirty="0"/>
              <a:t>88.68%</a:t>
            </a:r>
            <a:endParaRPr lang="en-US" dirty="0"/>
          </a:p>
          <a:p>
            <a:r>
              <a:rPr lang="en-US" dirty="0"/>
              <a:t>AUC-ROC: </a:t>
            </a:r>
            <a:r>
              <a:rPr lang="en-US" b="1" dirty="0"/>
              <a:t>0.9709</a:t>
            </a:r>
            <a:endParaRPr lang="en-US" dirty="0"/>
          </a:p>
          <a:p>
            <a:r>
              <a:rPr lang="en-US" dirty="0"/>
              <a:t>Sensitivity: </a:t>
            </a:r>
            <a:r>
              <a:rPr lang="en-US" b="1" dirty="0"/>
              <a:t>92.0%</a:t>
            </a:r>
            <a:endParaRPr lang="en-US" dirty="0"/>
          </a:p>
          <a:p>
            <a:r>
              <a:rPr lang="mn-MN" dirty="0"/>
              <a:t>Яагаад </a:t>
            </a:r>
            <a:r>
              <a:rPr lang="en-US" dirty="0" err="1"/>
              <a:t>ResNet</a:t>
            </a:r>
            <a:r>
              <a:rPr lang="en-US" dirty="0"/>
              <a:t> </a:t>
            </a:r>
            <a:r>
              <a:rPr lang="mn-MN" dirty="0"/>
              <a:t>давуу байсан вэ? </a:t>
            </a:r>
            <a:r>
              <a:rPr lang="en-US" dirty="0"/>
              <a:t>Residual </a:t>
            </a:r>
            <a:r>
              <a:rPr lang="mn-MN" dirty="0"/>
              <a:t>холболт нь </a:t>
            </a:r>
            <a:r>
              <a:rPr lang="en-US" b="1" dirty="0"/>
              <a:t>gradient vanishing </a:t>
            </a:r>
            <a:r>
              <a:rPr lang="mn-MN" b="1" dirty="0"/>
              <a:t>асуудлыг</a:t>
            </a:r>
            <a:r>
              <a:rPr lang="mn-MN" dirty="0"/>
              <a:t> бууруулснаар гүн сүлжээг тогтвортой сургах боломж олгосон. Мөн манай өгөгдлийн сан харьцангуй бага (3,240 бичлэг) тул энгийн боловч гүн </a:t>
            </a:r>
            <a:r>
              <a:rPr lang="en-US" dirty="0" err="1"/>
              <a:t>ResNet</a:t>
            </a:r>
            <a:r>
              <a:rPr lang="en-US" dirty="0"/>
              <a:t> </a:t>
            </a:r>
            <a:r>
              <a:rPr lang="mn-MN" dirty="0"/>
              <a:t>архитектур илүү тохиромжтой байсан.</a:t>
            </a:r>
          </a:p>
          <a:p>
            <a:r>
              <a:rPr lang="en-US" b="1" dirty="0"/>
              <a:t>CNN+LSTM</a:t>
            </a:r>
            <a:r>
              <a:rPr lang="en-US" dirty="0"/>
              <a:t> </a:t>
            </a:r>
            <a:r>
              <a:rPr lang="mn-MN" dirty="0"/>
              <a:t>нь 1</a:t>
            </a:r>
            <a:r>
              <a:rPr lang="en-US" dirty="0"/>
              <a:t>D CNN-</a:t>
            </a:r>
            <a:r>
              <a:rPr lang="mn-MN" dirty="0"/>
              <a:t>ийг арай давсан боловч </a:t>
            </a:r>
            <a:r>
              <a:rPr lang="en-US" dirty="0" err="1"/>
              <a:t>ResNet</a:t>
            </a:r>
            <a:r>
              <a:rPr lang="en-US" dirty="0"/>
              <a:t>-</a:t>
            </a:r>
            <a:r>
              <a:rPr lang="mn-MN" dirty="0"/>
              <a:t>ийн ард үлдсэн — өгөгдлийн хэмжээ бага тул </a:t>
            </a:r>
            <a:r>
              <a:rPr lang="en-US" dirty="0"/>
              <a:t>LSTM-</a:t>
            </a:r>
            <a:r>
              <a:rPr lang="mn-MN" dirty="0"/>
              <a:t>ийн нэмэлт параметрүүд хангалттай сургагдаагүй байж болзошгүй гэж үзэж байна.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Манай судалгааны хамгийн сайн үр дүн болох </a:t>
            </a:r>
            <a:r>
              <a:rPr lang="en-US" dirty="0"/>
              <a:t>CNN+MFCC </a:t>
            </a:r>
            <a:r>
              <a:rPr lang="mn-MN" dirty="0"/>
              <a:t>нь </a:t>
            </a:r>
            <a:r>
              <a:rPr lang="en-US" dirty="0"/>
              <a:t>accuracy 91.1% </a:t>
            </a:r>
            <a:r>
              <a:rPr lang="mn-MN" dirty="0"/>
              <a:t>хүрч, </a:t>
            </a:r>
            <a:r>
              <a:rPr lang="en-US" dirty="0" err="1"/>
              <a:t>EnsembleCinC</a:t>
            </a:r>
            <a:r>
              <a:rPr lang="en-US" dirty="0"/>
              <a:t> 2022-</a:t>
            </a:r>
            <a:r>
              <a:rPr lang="mn-MN" dirty="0"/>
              <a:t>ийн 86.6%-ийг давлаа.</a:t>
            </a:r>
          </a:p>
          <a:p>
            <a:r>
              <a:rPr lang="mn-MN" dirty="0"/>
              <a:t>Харин </a:t>
            </a:r>
            <a:r>
              <a:rPr lang="en-US" dirty="0" err="1"/>
              <a:t>ResNet</a:t>
            </a:r>
            <a:r>
              <a:rPr lang="en-US" dirty="0"/>
              <a:t> </a:t>
            </a:r>
            <a:r>
              <a:rPr lang="mn-MN" dirty="0"/>
              <a:t>болон </a:t>
            </a:r>
            <a:r>
              <a:rPr lang="en-US" dirty="0"/>
              <a:t>attention mechanism </a:t>
            </a:r>
            <a:r>
              <a:rPr lang="mn-MN" dirty="0"/>
              <a:t>ашигласан сүүлийн үеийн судалгаанууд 94–97%-ийн нарийвчлалд хүрсэн байна.</a:t>
            </a:r>
          </a:p>
          <a:p>
            <a:r>
              <a:rPr lang="mn-MN" dirty="0"/>
              <a:t>Гэхдээ </a:t>
            </a:r>
            <a:r>
              <a:rPr lang="mn-MN" b="1" dirty="0"/>
              <a:t>шууд харьцуулалт хязгаарлагдмал</a:t>
            </a:r>
            <a:r>
              <a:rPr lang="mn-MN" dirty="0"/>
              <a:t> — учир нь туршилтын нөхцөл, өгөгдлийн хуваарилалт, урьдчилсан боловсруулалт бүгд ялгаатай. Энэхүү судалгааны </a:t>
            </a:r>
            <a:r>
              <a:rPr lang="mn-MN" b="1" dirty="0"/>
              <a:t>онцлог хувь нэмэр</a:t>
            </a:r>
            <a:r>
              <a:rPr lang="mn-MN" dirty="0"/>
              <a:t> нь нэг ижил нөхцөлд олон хослолыг системтэйгээр харьцуулснаас гаргасан дүгнэлтэд оршино.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Судалгааны дөрвөн үндсэн дүгнэлт:</a:t>
            </a:r>
          </a:p>
          <a:p>
            <a:r>
              <a:rPr lang="mn-MN" b="1" dirty="0"/>
              <a:t>Нэгдүгээрт</a:t>
            </a:r>
            <a:r>
              <a:rPr lang="mn-MN" dirty="0"/>
              <a:t> — оролтын дүрслэлийн хувьд: </a:t>
            </a:r>
            <a:r>
              <a:rPr lang="en-US" dirty="0"/>
              <a:t>MFCC </a:t>
            </a:r>
            <a:r>
              <a:rPr lang="mn-MN" dirty="0"/>
              <a:t>нь хамгийн тэнцвэртэй (</a:t>
            </a:r>
            <a:r>
              <a:rPr lang="en-US" dirty="0"/>
              <a:t>F1 0.822), Mel-spectrogram </a:t>
            </a:r>
            <a:r>
              <a:rPr lang="mn-MN" dirty="0"/>
              <a:t>нь хамгийн өндөр </a:t>
            </a:r>
            <a:r>
              <a:rPr lang="en-US" dirty="0"/>
              <a:t>recall (0.943).</a:t>
            </a:r>
          </a:p>
          <a:p>
            <a:r>
              <a:rPr lang="mn-MN" b="1" dirty="0"/>
              <a:t>Хоёрдугаарт</a:t>
            </a:r>
            <a:r>
              <a:rPr lang="mn-MN" dirty="0"/>
              <a:t> — архитектурын хувьд: 1</a:t>
            </a:r>
            <a:r>
              <a:rPr lang="en-US" dirty="0"/>
              <a:t>D </a:t>
            </a:r>
            <a:r>
              <a:rPr lang="en-US" dirty="0" err="1"/>
              <a:t>ResNet</a:t>
            </a:r>
            <a:r>
              <a:rPr lang="en-US" dirty="0"/>
              <a:t> </a:t>
            </a:r>
            <a:r>
              <a:rPr lang="mn-MN" dirty="0"/>
              <a:t>нь </a:t>
            </a:r>
            <a:r>
              <a:rPr lang="en-US" dirty="0"/>
              <a:t>AUC-ROC 0.9709, accuracy 88.68%, sensitivity 92%-</a:t>
            </a:r>
            <a:r>
              <a:rPr lang="mn-MN" dirty="0"/>
              <a:t>аар хамгийн өндөр гүйцэтгэлтэй байсан.</a:t>
            </a:r>
          </a:p>
          <a:p>
            <a:r>
              <a:rPr lang="mn-MN" b="1" dirty="0"/>
              <a:t>Гуравдугаарт</a:t>
            </a:r>
            <a:r>
              <a:rPr lang="mn-MN" dirty="0"/>
              <a:t> — судалгааны хувь нэмэр: нэг ижил туршилтын орчинд 4×4 хослолыг системтэйгээр харьцуулсан. Мөн урьдчилсан боловсруулалт болон нормчлолын чанар нь эцсийн гүйцэтгэлд чухал нөлөөтэй болохыг бататгасан.</a:t>
            </a:r>
          </a:p>
          <a:p>
            <a:r>
              <a:rPr lang="mn-MN" b="1" dirty="0"/>
              <a:t>Цаашдын чиглэл</a:t>
            </a:r>
            <a:r>
              <a:rPr lang="mn-MN" dirty="0"/>
              <a:t> — </a:t>
            </a:r>
            <a:r>
              <a:rPr lang="en-US" dirty="0"/>
              <a:t>attention </a:t>
            </a:r>
            <a:r>
              <a:rPr lang="mn-MN" dirty="0"/>
              <a:t>механизм, </a:t>
            </a:r>
            <a:r>
              <a:rPr lang="en-US" dirty="0"/>
              <a:t>data augmentation </a:t>
            </a:r>
            <a:r>
              <a:rPr lang="mn-MN" dirty="0"/>
              <a:t>нэмэх, </a:t>
            </a:r>
            <a:r>
              <a:rPr lang="en-US" dirty="0"/>
              <a:t>murmur-</a:t>
            </a:r>
            <a:r>
              <a:rPr lang="mn-MN" dirty="0"/>
              <a:t>ийн дэд төрлүүдийг нарийвчлан ангилах, бодит орчны бичлэг дээр турших.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МОНГОЛ УЛСЫН ИХ СУРГУУЛЬ  ·  МЭДЭЭЛЛИЙН ТЕХНОЛОГИ, ЭЛЕКТРОНИКИЙН СУРГУУЛЬ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63077"/>
            <a:ext cx="8046720" cy="1508760"/>
          </a:xfrm>
          <a:prstGeom prst="rect">
            <a:avLst/>
          </a:prstGeom>
          <a:solidFill>
            <a:srgbClr val="D6E4F0">
              <a:alpha val="60000"/>
            </a:srgbClr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2507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Зүрхний дуу авиа дээр суурилан</a:t>
            </a:r>
            <a:endParaRPr lang="en-US" sz="2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зүрхний хэмийн хэвийн бус байдлыг илрүүлэх судалгаа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13994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mn-MN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Гүйцэтгэсэн: </a:t>
            </a: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Г. Хишигжаргал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1925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5125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Компьютерын ухаан  ·  2026 оны 4-р сар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24281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A3A5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Судалгааны зорилго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9525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68680"/>
            <a:ext cx="8321040" cy="658368"/>
          </a:xfrm>
          <a:prstGeom prst="rect">
            <a:avLst/>
          </a:prstGeom>
          <a:solidFill>
            <a:srgbClr val="D6E4F0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1440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Зүрхний өвчин нь дэлхийн тэргүүлэх нас баралтын шалтгаан. Зүрхний авиан дохионоос (PCG) хэвийн бус хэмнэлийг автоматаар илрүүлэх систем нь эрт оношлогоог дэмжих боломжтой.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26517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" y="1874520"/>
            <a:ext cx="502920" cy="502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874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Оролтын дүрслэл харьцуулах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" y="2487168"/>
            <a:ext cx="2322576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578608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 · Mel-spectrogram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 · MFCC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дөрвөн дүрслэлийг нэг нөхцөлд туршина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27832" y="1691640"/>
            <a:ext cx="26517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2424" y="1874520"/>
            <a:ext cx="502920" cy="502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392424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05072" y="1874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 харьцуулах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92424" y="2487168"/>
            <a:ext cx="2322576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2424" y="2578608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 · 1D CNN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ResNet · CNN+LSTM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дөрвөн загварыг туршина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44184" y="1691640"/>
            <a:ext cx="26517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08776" y="1874520"/>
            <a:ext cx="502920" cy="502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6208776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21424" y="1874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Оптимал хослол тодорхойлох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08776" y="2487168"/>
            <a:ext cx="2322576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2578608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Хамгийн тохиромжтой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дүрслэл + архитектурын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хослолыг тогтооно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Өгөгдлийн сан — PhysioNet/CinC 2016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9525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14400"/>
            <a:ext cx="4754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Нийт бичлэг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20440" y="100584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3,240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4754880" cy="594360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6420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Түүвэрлэлтийн давтамж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66420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Hz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231136"/>
            <a:ext cx="4754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2257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Дундаж үргэлжлэх хугацаа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32257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22.46 сек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2889504"/>
            <a:ext cx="4754880" cy="594360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8094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Хугацааны хүрээ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98094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5.31 – 122.0 сек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547872"/>
            <a:ext cx="4754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3931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Нийт сегмент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20440" y="363931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68,097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77840" y="914400"/>
            <a:ext cx="31546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10058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Ангиллын тархалт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15000" y="1389888"/>
            <a:ext cx="288036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Хэвийн бус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60920" y="1600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2,575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15000" y="1920240"/>
            <a:ext cx="2834640" cy="347472"/>
          </a:xfrm>
          <a:prstGeom prst="rect">
            <a:avLst/>
          </a:prstGeom>
          <a:solidFill>
            <a:srgbClr val="D0D8E0"/>
          </a:solidFill>
          <a:ln/>
        </p:spPr>
      </p:sp>
      <p:sp>
        <p:nvSpPr>
          <p:cNvPr id="27" name="Shape 25"/>
          <p:cNvSpPr/>
          <p:nvPr/>
        </p:nvSpPr>
        <p:spPr>
          <a:xfrm>
            <a:off x="5715000" y="1920240"/>
            <a:ext cx="2253539" cy="34747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19202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15000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Хэвийн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60920" y="2971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715000" y="3291840"/>
            <a:ext cx="2834640" cy="347472"/>
          </a:xfrm>
          <a:prstGeom prst="rect">
            <a:avLst/>
          </a:prstGeom>
          <a:solidFill>
            <a:srgbClr val="D0D8E0"/>
          </a:solidFill>
          <a:ln/>
        </p:spPr>
      </p:sp>
      <p:sp>
        <p:nvSpPr>
          <p:cNvPr id="32" name="Shape 30"/>
          <p:cNvSpPr/>
          <p:nvPr/>
        </p:nvSpPr>
        <p:spPr>
          <a:xfrm>
            <a:off x="5715000" y="3291840"/>
            <a:ext cx="581101" cy="347472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33" name="Text 31"/>
          <p:cNvSpPr/>
          <p:nvPr/>
        </p:nvSpPr>
        <p:spPr>
          <a:xfrm>
            <a:off x="5715000" y="32918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15000" y="4133088"/>
            <a:ext cx="2834640" cy="530352"/>
          </a:xfrm>
          <a:prstGeom prst="rect">
            <a:avLst/>
          </a:prstGeom>
          <a:solidFill>
            <a:srgbClr val="D6E4F0">
              <a:alpha val="70000"/>
            </a:srgbClr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41788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Тэнцвэргүй тархалт →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 тохируулга ашигласан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4224528"/>
            <a:ext cx="4754880" cy="594360"/>
          </a:xfrm>
          <a:prstGeom prst="rect">
            <a:avLst/>
          </a:prstGeom>
          <a:solidFill>
            <a:srgbClr val="F3F7FB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279392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 шуугиан бууруулах  →  сегментлэх (3 сек, 50% давхцал)  →  энерги шүүлт  →  z-score нормчлол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Оролтын дүрслэлүүд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9525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20116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2011680" cy="56692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96112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STFT-д суурилсан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173736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2103120"/>
            <a:ext cx="73152" cy="256032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01168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Шугаман давтамжийн тэнхлэг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" y="2724912"/>
            <a:ext cx="73152" cy="256032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33472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Хугацаа × Давтамж × Энерги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3346704"/>
            <a:ext cx="73152" cy="256032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55264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Суурь дүрслэл — жишиг болгон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50592" y="868680"/>
            <a:ext cx="20116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868680"/>
            <a:ext cx="2011680" cy="56692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2542032" y="896112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Mel-spectrogram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42032" y="14813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хуваарьт шилжүүлсэн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87752" y="1901952"/>
            <a:ext cx="173736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15184" y="2103120"/>
            <a:ext cx="73152" cy="256032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23" name="Text 21"/>
          <p:cNvSpPr/>
          <p:nvPr/>
        </p:nvSpPr>
        <p:spPr>
          <a:xfrm>
            <a:off x="2770632" y="201168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Хүний сонсголын онцлогт ойр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15184" y="2724912"/>
            <a:ext cx="73152" cy="256032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25" name="Text 23"/>
          <p:cNvSpPr/>
          <p:nvPr/>
        </p:nvSpPr>
        <p:spPr>
          <a:xfrm>
            <a:off x="2770632" y="2633472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 давтамжийг нарийвчлалтай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15184" y="3346704"/>
            <a:ext cx="73152" cy="256032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27" name="Text 25"/>
          <p:cNvSpPr/>
          <p:nvPr/>
        </p:nvSpPr>
        <p:spPr>
          <a:xfrm>
            <a:off x="2770632" y="3255264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S1, S2 авианд тохиромжтой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26864" y="868680"/>
            <a:ext cx="20116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26864" y="868680"/>
            <a:ext cx="2011680" cy="56692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4718304" y="896112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18304" y="14813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Mel-spec-ийн логарифм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64024" y="1901952"/>
            <a:ext cx="173736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91456" y="2103120"/>
            <a:ext cx="73152" cy="256032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34" name="Text 32"/>
          <p:cNvSpPr/>
          <p:nvPr/>
        </p:nvSpPr>
        <p:spPr>
          <a:xfrm>
            <a:off x="4946904" y="201168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 мужийг тэнцвэржүүлсэн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91456" y="2724912"/>
            <a:ext cx="73152" cy="256032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36" name="Text 34"/>
          <p:cNvSpPr/>
          <p:nvPr/>
        </p:nvSpPr>
        <p:spPr>
          <a:xfrm>
            <a:off x="4946904" y="2633472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 энергийн онцлогийг тодруулна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91456" y="3346704"/>
            <a:ext cx="73152" cy="256032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38" name="Text 36"/>
          <p:cNvSpPr/>
          <p:nvPr/>
        </p:nvSpPr>
        <p:spPr>
          <a:xfrm>
            <a:off x="4946904" y="3255264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Гүн сургалтад өргөн хэрэглэгддэг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03136" y="868680"/>
            <a:ext cx="20116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03136" y="868680"/>
            <a:ext cx="2011680" cy="56692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1" name="Text 39"/>
          <p:cNvSpPr/>
          <p:nvPr/>
        </p:nvSpPr>
        <p:spPr>
          <a:xfrm>
            <a:off x="6894576" y="896112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94576" y="14813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Cepstral коэффициент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40296" y="1901952"/>
            <a:ext cx="173736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67728" y="2103120"/>
            <a:ext cx="73152" cy="256032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45" name="Text 43"/>
          <p:cNvSpPr/>
          <p:nvPr/>
        </p:nvSpPr>
        <p:spPr>
          <a:xfrm>
            <a:off x="7123176" y="201168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Спектрийн хэлбэрийг нягтруулсан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67728" y="2724912"/>
            <a:ext cx="73152" cy="256032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47" name="Text 45"/>
          <p:cNvSpPr/>
          <p:nvPr/>
        </p:nvSpPr>
        <p:spPr>
          <a:xfrm>
            <a:off x="7123176" y="2633472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13–40 коэффициент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967728" y="3346704"/>
            <a:ext cx="73152" cy="256032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49" name="Text 47"/>
          <p:cNvSpPr/>
          <p:nvPr/>
        </p:nvSpPr>
        <p:spPr>
          <a:xfrm>
            <a:off x="7123176" y="3255264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Ярианы боловсруулалтад стандарт</a:t>
            </a:r>
            <a:endParaRPr lang="en-US" sz="12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5D737A9-D197-8267-3E72-61DCC363D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22" y="3758183"/>
            <a:ext cx="1853676" cy="99524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04A07B6-6B93-2F1B-FBCB-66F47DAE4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5117" y="3758923"/>
            <a:ext cx="1895715" cy="103179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A6A4F5B-2943-B9AD-138D-4B6FD52FE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605" y="3725150"/>
            <a:ext cx="1972197" cy="106131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45F3A25B-6E15-AC1D-4C4A-7C1C4FE653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7651" y="3707893"/>
            <a:ext cx="1982650" cy="1062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CNN-д суурилсан архитектурууд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9525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14400"/>
            <a:ext cx="1600200" cy="7498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1440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48840" y="1005840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00584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Conv×2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11556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11880" y="1005840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00584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11556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74920" y="1005840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00584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11556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37960" y="1005840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00584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0" y="9601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дүрслэл дээр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Суурь жишиг загвар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1737360"/>
            <a:ext cx="832104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1901952"/>
            <a:ext cx="1600200" cy="7498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1901952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48840" y="1993392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199339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Conv1d×4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210312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11880" y="1993392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199339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BN+ReLU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10312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74920" y="1993392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199339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AvgPool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210312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37960" y="1993392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199339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55280" y="1947672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waveform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Шууд боловсруулалт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2724912"/>
            <a:ext cx="832104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2889504"/>
            <a:ext cx="1600200" cy="7498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2889504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ResNet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148840" y="2980944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298094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k=15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29000" y="309067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11880" y="2980944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11880" y="298094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ResBlock×4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92040" y="309067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074920" y="2980944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298094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55080" y="309067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537960" y="2980944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298094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955280" y="2935224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холболт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vanishing ↓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1480" y="3712464"/>
            <a:ext cx="832104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1480" y="3877056"/>
            <a:ext cx="1600200" cy="7498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2" name="Text 50"/>
          <p:cNvSpPr/>
          <p:nvPr/>
        </p:nvSpPr>
        <p:spPr>
          <a:xfrm>
            <a:off x="411480" y="3877056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LSTM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148840" y="3968496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48840" y="396849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Conv1d×3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429000" y="4078224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3611880" y="3968496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11880" y="396849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892040" y="4078224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074920" y="3968496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74920" y="396849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BiLSTM×2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355080" y="4078224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537960" y="3968496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37960" y="396849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955280" y="3922776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Хугацааны хамаарал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→ систол → S2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solidFill>
            <a:srgbClr val="F3F7FB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47365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 нь 2D дүрслэлтэй · 1D CNN, ResNet, CNN+LSTM нь raw waveform-тай туршигдсан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Үр дүн 1 — Оролтын дүрслэлийн харьцуулалт (Baseline CNN)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9525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14400"/>
            <a:ext cx="137160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914400"/>
            <a:ext cx="118872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91440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71800" y="914400"/>
            <a:ext cx="118872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91440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60520" y="914400"/>
            <a:ext cx="118872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91440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914400"/>
            <a:ext cx="118872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91440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914400"/>
            <a:ext cx="214884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91440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Тэмдэглэл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1353312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35331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Mel-Spec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783080" y="1353312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135331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0.898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971800" y="1353312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135331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0.714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160520" y="1353312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135331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0.943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349240" y="1353312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135331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0.813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1353312"/>
            <a:ext cx="2148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1353312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Хамгийн өндөр Recall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11480" y="1856232"/>
            <a:ext cx="1371600" cy="475488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185623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783080" y="1856232"/>
            <a:ext cx="1188720" cy="475488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185623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0.911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971800" y="1856232"/>
            <a:ext cx="1188720" cy="475488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185623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0.778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160520" y="1856232"/>
            <a:ext cx="1188720" cy="475488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0" y="185623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0.872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349240" y="1856232"/>
            <a:ext cx="1188720" cy="475488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185623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0.822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537960" y="1856232"/>
            <a:ext cx="2148840" cy="475488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1856232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Хамгийн тэнцвэртэй F1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11480" y="2359152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235915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1783080" y="2359152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28800" y="235915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0.911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971800" y="2359152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235915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0.807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160520" y="2359152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0" y="235915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0.816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5349240" y="2359152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94960" y="235915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0.812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537960" y="2359152"/>
            <a:ext cx="2148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0" y="2359152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Хамгийн өндөр Precision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411480" y="2862072"/>
            <a:ext cx="1371600" cy="475488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286207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1783080" y="2862072"/>
            <a:ext cx="1188720" cy="475488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28800" y="286207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0.906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2971800" y="2862072"/>
            <a:ext cx="1188720" cy="475488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17520" y="286207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0.785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4160520" y="2862072"/>
            <a:ext cx="1188720" cy="475488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6240" y="286207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0.831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5349240" y="2862072"/>
            <a:ext cx="1188720" cy="475488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94960" y="286207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0.807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537960" y="2862072"/>
            <a:ext cx="2148840" cy="475488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83680" y="2862072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Дундаж гүйцэтгэл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411480" y="3538728"/>
            <a:ext cx="54864" cy="32004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67" name="Text 65"/>
          <p:cNvSpPr/>
          <p:nvPr/>
        </p:nvSpPr>
        <p:spPr>
          <a:xfrm>
            <a:off x="566928" y="349300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MFCC:  F1 0.822 — хоёр ангиллыг тэнцвэртэй илрүүлнэ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411480" y="3995928"/>
            <a:ext cx="54864" cy="32004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69" name="Text 67"/>
          <p:cNvSpPr/>
          <p:nvPr/>
        </p:nvSpPr>
        <p:spPr>
          <a:xfrm>
            <a:off x="566928" y="395020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Mel-spec:  Recall 0.943 — хэвийн бус тохиолдлыг хамгийн сайн илрүүлнэ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411480" y="4453128"/>
            <a:ext cx="54864" cy="320040"/>
          </a:xfrm>
          <a:prstGeom prst="rect">
            <a:avLst/>
          </a:prstGeom>
          <a:solidFill>
            <a:srgbClr val="B85C00"/>
          </a:solidFill>
          <a:ln/>
        </p:spPr>
      </p:sp>
      <p:sp>
        <p:nvSpPr>
          <p:cNvPr id="71" name="Text 69"/>
          <p:cNvSpPr/>
          <p:nvPr/>
        </p:nvSpPr>
        <p:spPr>
          <a:xfrm>
            <a:off x="566928" y="440740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Spectrogram:  Precision 0.807 — хамгийн цөөн хуурамч дохио гаргасан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Үр дүн 2 — Архитектуруудын харьцуулалт (Raw waveform)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9525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14400"/>
            <a:ext cx="169164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Загвар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914400"/>
            <a:ext cx="109728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91440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109728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91440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914400"/>
            <a:ext cx="109728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91440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94960" y="914400"/>
            <a:ext cx="91440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914400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914400"/>
            <a:ext cx="114300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914400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52360" y="914400"/>
            <a:ext cx="128016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91440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1353312"/>
            <a:ext cx="1691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353312"/>
            <a:ext cx="1600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103120" y="1353312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1353312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0.858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0" y="1353312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1353312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0.608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97680" y="1353312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1353312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394960" y="1353312"/>
            <a:ext cx="9144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1353312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0.716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1353312"/>
            <a:ext cx="11430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353312"/>
            <a:ext cx="1051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0.9576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452360" y="1353312"/>
            <a:ext cx="12801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1353312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11480" y="1883664"/>
            <a:ext cx="1691640" cy="493776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1883664"/>
            <a:ext cx="1600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ResNet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103120" y="1883664"/>
            <a:ext cx="1097280" cy="493776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48840" y="1883664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0.887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200400" y="1883664"/>
            <a:ext cx="1097280" cy="493776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1883664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0.662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297680" y="1883664"/>
            <a:ext cx="1097280" cy="493776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3400" y="1883664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0.920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394960" y="1883664"/>
            <a:ext cx="914400" cy="493776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40680" y="1883664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0.770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309360" y="1883664"/>
            <a:ext cx="1143000" cy="493776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1883664"/>
            <a:ext cx="1051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0.9709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452360" y="1883664"/>
            <a:ext cx="1280160" cy="493776"/>
          </a:xfrm>
          <a:prstGeom prst="rect">
            <a:avLst/>
          </a:prstGeom>
          <a:solidFill>
            <a:srgbClr val="F3F7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0" y="1883664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0.920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11480" y="2414016"/>
            <a:ext cx="1691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2414016"/>
            <a:ext cx="1600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LSTM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2103120" y="2414016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48840" y="2414016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0.864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3200400" y="2414016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46120" y="2414016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0.623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4297680" y="2414016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43400" y="2414016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0.860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5394960" y="2414016"/>
            <a:ext cx="9144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40680" y="2414016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0.723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309360" y="2414016"/>
            <a:ext cx="11430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2414016"/>
            <a:ext cx="1051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0.9491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7452360" y="2414016"/>
            <a:ext cx="12801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98080" y="2414016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0.860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411480" y="3063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харьцуулалт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411480" y="3520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783080" y="3584448"/>
            <a:ext cx="3840480" cy="256032"/>
          </a:xfrm>
          <a:prstGeom prst="rect">
            <a:avLst/>
          </a:prstGeom>
          <a:solidFill>
            <a:srgbClr val="D0D8E0"/>
          </a:solidFill>
          <a:ln/>
        </p:spPr>
      </p:sp>
      <p:sp>
        <p:nvSpPr>
          <p:cNvPr id="65" name="Shape 63"/>
          <p:cNvSpPr/>
          <p:nvPr/>
        </p:nvSpPr>
        <p:spPr>
          <a:xfrm>
            <a:off x="1783080" y="3584448"/>
            <a:ext cx="1843430" cy="256032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66" name="Text 64"/>
          <p:cNvSpPr/>
          <p:nvPr/>
        </p:nvSpPr>
        <p:spPr>
          <a:xfrm>
            <a:off x="5687568" y="35204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0.9576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1148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ResNet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783080" y="4041648"/>
            <a:ext cx="3840480" cy="256032"/>
          </a:xfrm>
          <a:prstGeom prst="rect">
            <a:avLst/>
          </a:prstGeom>
          <a:solidFill>
            <a:srgbClr val="D0D8E0"/>
          </a:solidFill>
          <a:ln/>
        </p:spPr>
      </p:sp>
      <p:sp>
        <p:nvSpPr>
          <p:cNvPr id="69" name="Shape 67"/>
          <p:cNvSpPr/>
          <p:nvPr/>
        </p:nvSpPr>
        <p:spPr>
          <a:xfrm>
            <a:off x="1783080" y="4041648"/>
            <a:ext cx="2269084" cy="25603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70" name="Text 68"/>
          <p:cNvSpPr/>
          <p:nvPr/>
        </p:nvSpPr>
        <p:spPr>
          <a:xfrm>
            <a:off x="5687568" y="39776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0.9709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11480" y="4434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LSTM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783080" y="4498848"/>
            <a:ext cx="3840480" cy="256032"/>
          </a:xfrm>
          <a:prstGeom prst="rect">
            <a:avLst/>
          </a:prstGeom>
          <a:solidFill>
            <a:srgbClr val="D0D8E0"/>
          </a:solidFill>
          <a:ln/>
        </p:spPr>
      </p:sp>
      <p:sp>
        <p:nvSpPr>
          <p:cNvPr id="73" name="Shape 71"/>
          <p:cNvSpPr/>
          <p:nvPr/>
        </p:nvSpPr>
        <p:spPr>
          <a:xfrm>
            <a:off x="1783080" y="4498848"/>
            <a:ext cx="1571396" cy="256032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74" name="Text 72"/>
          <p:cNvSpPr/>
          <p:nvPr/>
        </p:nvSpPr>
        <p:spPr>
          <a:xfrm>
            <a:off x="5687568" y="44348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0.9491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486400" y="3017520"/>
            <a:ext cx="3246120" cy="2084832"/>
          </a:xfrm>
          <a:prstGeom prst="rect">
            <a:avLst/>
          </a:prstGeom>
          <a:solidFill>
            <a:srgbClr val="F3F7FB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23560" y="31272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ResNet — давуу байсан шалтгаан</a:t>
            </a:r>
            <a:endParaRPr lang="en-US" sz="1250" dirty="0"/>
          </a:p>
        </p:txBody>
      </p:sp>
      <p:sp>
        <p:nvSpPr>
          <p:cNvPr id="77" name="Shape 75"/>
          <p:cNvSpPr/>
          <p:nvPr/>
        </p:nvSpPr>
        <p:spPr>
          <a:xfrm>
            <a:off x="5623560" y="3566160"/>
            <a:ext cx="297180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623560" y="3767328"/>
            <a:ext cx="64008" cy="22860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79" name="Text 77"/>
          <p:cNvSpPr/>
          <p:nvPr/>
        </p:nvSpPr>
        <p:spPr>
          <a:xfrm>
            <a:off x="5779008" y="36758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холболт: gradient vanishing ↓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5623560" y="4206240"/>
            <a:ext cx="64008" cy="22860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81" name="Text 79"/>
          <p:cNvSpPr/>
          <p:nvPr/>
        </p:nvSpPr>
        <p:spPr>
          <a:xfrm>
            <a:off x="5779008" y="41148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 өгөгдөлд үр дүнтэй сурна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5623560" y="4645152"/>
            <a:ext cx="64008" cy="22860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83" name="Text 81"/>
          <p:cNvSpPr/>
          <p:nvPr/>
        </p:nvSpPr>
        <p:spPr>
          <a:xfrm>
            <a:off x="5779008" y="45537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Бүх үзүүлэлтэд тэргүүлсэн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Өмнөх судалгаатай харьцуулалт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9525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14400"/>
            <a:ext cx="0" cy="2514600"/>
          </a:xfrm>
          <a:prstGeom prst="line">
            <a:avLst/>
          </a:prstGeom>
          <a:noFill/>
          <a:ln w="9525">
            <a:solidFill>
              <a:srgbClr val="D0D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160520"/>
            <a:ext cx="8046720" cy="0"/>
          </a:xfrm>
          <a:prstGeom prst="line">
            <a:avLst/>
          </a:prstGeom>
          <a:noFill/>
          <a:ln w="9525">
            <a:solidFill>
              <a:srgbClr val="D0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160520"/>
            <a:ext cx="804672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1440" y="39959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510280"/>
            <a:ext cx="804672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91440" y="334568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860040"/>
            <a:ext cx="804672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1440" y="26954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209800"/>
            <a:ext cx="804672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1440" y="20452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1559560"/>
            <a:ext cx="804672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91440" y="139496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2681224"/>
            <a:ext cx="1005840" cy="1479296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31546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42062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Энэ судалгаа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MFCC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29968" y="3071368"/>
            <a:ext cx="1005840" cy="108915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22" name="Text 20"/>
          <p:cNvSpPr/>
          <p:nvPr/>
        </p:nvSpPr>
        <p:spPr>
          <a:xfrm>
            <a:off x="2029968" y="270560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88.7%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029968" y="42062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Энэ судалгаа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ResNet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74136" y="3412744"/>
            <a:ext cx="1005840" cy="747776"/>
          </a:xfrm>
          <a:prstGeom prst="rect">
            <a:avLst/>
          </a:prstGeom>
          <a:solidFill>
            <a:srgbClr val="D0D8E0"/>
          </a:solidFill>
          <a:ln/>
        </p:spPr>
      </p:sp>
      <p:sp>
        <p:nvSpPr>
          <p:cNvPr id="25" name="Text 23"/>
          <p:cNvSpPr/>
          <p:nvPr/>
        </p:nvSpPr>
        <p:spPr>
          <a:xfrm>
            <a:off x="3374136" y="304698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86.6%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74136" y="42062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CinC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18304" y="2144776"/>
            <a:ext cx="1005840" cy="2015744"/>
          </a:xfrm>
          <a:prstGeom prst="rect">
            <a:avLst/>
          </a:prstGeom>
          <a:solidFill>
            <a:srgbClr val="D0D8E0"/>
          </a:solidFill>
          <a:ln/>
        </p:spPr>
      </p:sp>
      <p:sp>
        <p:nvSpPr>
          <p:cNvPr id="28" name="Text 26"/>
          <p:cNvSpPr/>
          <p:nvPr/>
        </p:nvSpPr>
        <p:spPr>
          <a:xfrm>
            <a:off x="4718304" y="177901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18304" y="42062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нар 2022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62472" y="1949704"/>
            <a:ext cx="1005840" cy="2210816"/>
          </a:xfrm>
          <a:prstGeom prst="rect">
            <a:avLst/>
          </a:prstGeom>
          <a:solidFill>
            <a:srgbClr val="D0D8E0"/>
          </a:solidFill>
          <a:ln/>
        </p:spPr>
      </p:sp>
      <p:sp>
        <p:nvSpPr>
          <p:cNvPr id="31" name="Text 29"/>
          <p:cNvSpPr/>
          <p:nvPr/>
        </p:nvSpPr>
        <p:spPr>
          <a:xfrm>
            <a:off x="6062472" y="158394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95.6%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062472" y="42062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 CNN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06640" y="1770888"/>
            <a:ext cx="1005840" cy="2389632"/>
          </a:xfrm>
          <a:prstGeom prst="rect">
            <a:avLst/>
          </a:prstGeom>
          <a:solidFill>
            <a:srgbClr val="D0D8E0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14051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406640" y="42062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CNN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4773168"/>
            <a:ext cx="8321040" cy="347472"/>
          </a:xfrm>
          <a:prstGeom prst="rect">
            <a:avLst/>
          </a:prstGeom>
          <a:solidFill>
            <a:srgbClr val="F3F7FB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80974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Туршилтын нөхцөл, өгөгдлийн хуваарилалт ялгаатай тул шууд харьцуулалт хязгаарлагдмал.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Дүгнэлт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9525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14400"/>
            <a:ext cx="420624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420624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Shape 6"/>
          <p:cNvSpPr/>
          <p:nvPr/>
        </p:nvSpPr>
        <p:spPr>
          <a:xfrm>
            <a:off x="576072" y="1078992"/>
            <a:ext cx="420624" cy="42062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078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09728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Хамгийн сайн дүрслэл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" y="1572768"/>
            <a:ext cx="388620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664208"/>
            <a:ext cx="39136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— F1 0.822 (хамгийн тэнцвэртэй)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Mel-spectrogram — Recall 0.943 (хэвийн бус илрүүлэлтэд)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18888" y="914400"/>
            <a:ext cx="420624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888" y="914400"/>
            <a:ext cx="420624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5" name="Shape 13"/>
          <p:cNvSpPr/>
          <p:nvPr/>
        </p:nvSpPr>
        <p:spPr>
          <a:xfrm>
            <a:off x="4983480" y="1078992"/>
            <a:ext cx="420624" cy="42062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078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04688" y="109728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Хамгийн сайн архитектур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83480" y="1572768"/>
            <a:ext cx="388620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664208"/>
            <a:ext cx="39136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ResNet — Accuracy 88.68%, AUC-ROC 0.9709, Sensitivity 92.0%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холболт нь бага өгөгдөлд ч үр дүнтэй сурдаг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2999232"/>
            <a:ext cx="420624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99232"/>
            <a:ext cx="420624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576072" y="3163824"/>
            <a:ext cx="420624" cy="42062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" y="31638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18211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Судалгааны хувь нэмэр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6072" y="3657600"/>
            <a:ext cx="388620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3749040"/>
            <a:ext cx="39136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дүрслэл × 4 архитектурыг нэг ижил нөхцөлд харьцуулан үнэлсэн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Урьдчилсан боловсруулалт болон нормчлолын чанар чухал гэдгийг бататгасан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18888" y="2999232"/>
            <a:ext cx="420624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18888" y="2999232"/>
            <a:ext cx="420624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9" name="Shape 27"/>
          <p:cNvSpPr/>
          <p:nvPr/>
        </p:nvSpPr>
        <p:spPr>
          <a:xfrm>
            <a:off x="4983480" y="3163824"/>
            <a:ext cx="420624" cy="42062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31638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04688" y="318211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Цаашдын чиглэл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83480" y="3657600"/>
            <a:ext cx="388620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749040"/>
            <a:ext cx="39136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механизм, data augmentation нэмэх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 дэд төрлүүдийг нарийвчлан ангилах, бодит орчинд туршина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8839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mn-MN" sz="15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Анхаарал хандуулсанд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85480" y="2316991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Баярлалаа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28680" y="3334261"/>
            <a:ext cx="2743200" cy="0"/>
          </a:xfrm>
          <a:prstGeom prst="line">
            <a:avLst/>
          </a:prstGeom>
          <a:noFill/>
          <a:ln w="12700">
            <a:solidFill>
              <a:srgbClr val="D0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975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A3A5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1372</Words>
  <Application>Microsoft Office PowerPoint</Application>
  <PresentationFormat>On-screen Show (16:9)</PresentationFormat>
  <Paragraphs>282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KHISHIGJARGAL Gantulga</cp:lastModifiedBy>
  <cp:revision>3</cp:revision>
  <dcterms:created xsi:type="dcterms:W3CDTF">2026-04-05T12:47:10Z</dcterms:created>
  <dcterms:modified xsi:type="dcterms:W3CDTF">2026-04-06T07:38:43Z</dcterms:modified>
</cp:coreProperties>
</file>